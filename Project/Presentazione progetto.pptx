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8"/>
  </p:notesMasterIdLst>
  <p:sldIdLst>
    <p:sldId id="314" r:id="rId5"/>
    <p:sldId id="330" r:id="rId6"/>
    <p:sldId id="331" r:id="rId7"/>
    <p:sldId id="326" r:id="rId8"/>
    <p:sldId id="327" r:id="rId9"/>
    <p:sldId id="325" r:id="rId10"/>
    <p:sldId id="328" r:id="rId11"/>
    <p:sldId id="324" r:id="rId12"/>
    <p:sldId id="332" r:id="rId13"/>
    <p:sldId id="333" r:id="rId14"/>
    <p:sldId id="334" r:id="rId15"/>
    <p:sldId id="335" r:id="rId16"/>
    <p:sldId id="31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6144" autoAdjust="0"/>
  </p:normalViewPr>
  <p:slideViewPr>
    <p:cSldViewPr snapToGrid="0">
      <p:cViewPr varScale="1">
        <p:scale>
          <a:sx n="71" d="100"/>
          <a:sy n="71" d="100"/>
        </p:scale>
        <p:origin x="1138" y="53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2703F-EB58-4B0C-8B2A-EDF2A51B2C6C}" type="doc">
      <dgm:prSet loTypeId="urn:microsoft.com/office/officeart/2019/1/layout/PeoplePortraitsList" loCatId="profi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CA95F9-8BCF-40C1-B842-BCFFD43632F6}">
      <dgm:prSet/>
      <dgm:spPr/>
      <dgm:t>
        <a:bodyPr/>
        <a:lstStyle/>
        <a:p>
          <a:pPr algn="ctr">
            <a:lnSpc>
              <a:spcPct val="100000"/>
            </a:lnSpc>
            <a:defRPr b="1" spc="20">
              <a:latin typeface="+mj-lt"/>
            </a:defRPr>
          </a:pPr>
          <a:r>
            <a:rPr lang="en-US" dirty="0">
              <a:solidFill>
                <a:schemeClr val="bg1"/>
              </a:solidFill>
            </a:rPr>
            <a:t>Giorgia Grazia </a:t>
          </a:r>
          <a:r>
            <a:rPr lang="en-US" dirty="0" err="1">
              <a:solidFill>
                <a:schemeClr val="bg1"/>
              </a:solidFill>
            </a:rPr>
            <a:t>Mucciarella</a:t>
          </a:r>
          <a:endParaRPr lang="en-US" dirty="0">
            <a:solidFill>
              <a:schemeClr val="bg1"/>
            </a:solidFill>
          </a:endParaRPr>
        </a:p>
      </dgm:t>
    </dgm:pt>
    <dgm:pt modelId="{FC4F4986-5DCD-4DC2-B7FD-2C5FABEF9979}" type="parTrans" cxnId="{E6EDE7CF-5B3F-4E2C-99EE-D5462F0EC9CE}">
      <dgm:prSet/>
      <dgm:spPr/>
      <dgm:t>
        <a:bodyPr/>
        <a:lstStyle/>
        <a:p>
          <a:endParaRPr lang="en-US"/>
        </a:p>
      </dgm:t>
    </dgm:pt>
    <dgm:pt modelId="{D868EA7F-D868-4231-86D5-66D9B2DF2F62}" type="sibTrans" cxnId="{E6EDE7CF-5B3F-4E2C-99EE-D5462F0EC9CE}">
      <dgm:prSet/>
      <dgm:spPr/>
      <dgm:t>
        <a:bodyPr/>
        <a:lstStyle/>
        <a:p>
          <a:endParaRPr lang="en-US"/>
        </a:p>
      </dgm:t>
    </dgm:pt>
    <dgm:pt modelId="{BF30E86D-EAFC-44CE-B56C-D7C5EC7742F3}" type="pres">
      <dgm:prSet presAssocID="{5C72703F-EB58-4B0C-8B2A-EDF2A51B2C6C}" presName="root" presStyleCnt="0">
        <dgm:presLayoutVars>
          <dgm:dir/>
          <dgm:resizeHandles val="exact"/>
        </dgm:presLayoutVars>
      </dgm:prSet>
      <dgm:spPr/>
    </dgm:pt>
    <dgm:pt modelId="{34A89649-B4A9-4A6F-8793-5A3DB37DDDA6}" type="pres">
      <dgm:prSet presAssocID="{23CA95F9-8BCF-40C1-B842-BCFFD43632F6}" presName="compNode" presStyleCnt="0"/>
      <dgm:spPr/>
    </dgm:pt>
    <dgm:pt modelId="{FFB9F511-6797-4909-9D3B-89EBC96F25A8}" type="pres">
      <dgm:prSet presAssocID="{23CA95F9-8BCF-40C1-B842-BCFFD43632F6}" presName="topSpace" presStyleCnt="0"/>
      <dgm:spPr/>
    </dgm:pt>
    <dgm:pt modelId="{73073D5B-7ADA-4F8B-AD34-0BE114905A44}" type="pres">
      <dgm:prSet presAssocID="{23CA95F9-8BCF-40C1-B842-BCFFD43632F6}" presName="photoElip" presStyleLbl="node1" presStyleIdx="0" presStyleCnt="1" custScaleX="130326" custScaleY="146617"/>
      <dgm:spPr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2000" b="-2000"/>
          </a:stretch>
        </a:blipFill>
        <a:ln>
          <a:noFill/>
        </a:ln>
      </dgm:spPr>
    </dgm:pt>
    <dgm:pt modelId="{EE33220B-2292-4F19-BD6E-B7F529CD8414}" type="pres">
      <dgm:prSet presAssocID="{23CA95F9-8BCF-40C1-B842-BCFFD43632F6}" presName="iconSpace" presStyleCnt="0"/>
      <dgm:spPr/>
    </dgm:pt>
    <dgm:pt modelId="{FDFAF16A-4FD0-49F4-8593-32E9A31A4FF7}" type="pres">
      <dgm:prSet presAssocID="{23CA95F9-8BCF-40C1-B842-BCFFD43632F6}" presName="nameTx" presStyleLbl="revTx" presStyleIdx="0" presStyleCnt="2" custLinFactNeighborY="44680">
        <dgm:presLayoutVars>
          <dgm:chMax val="0"/>
          <dgm:chPref val="0"/>
        </dgm:presLayoutVars>
      </dgm:prSet>
      <dgm:spPr/>
    </dgm:pt>
    <dgm:pt modelId="{EEB88C88-E325-43D0-B163-BFD87C897361}" type="pres">
      <dgm:prSet presAssocID="{23CA95F9-8BCF-40C1-B842-BCFFD43632F6}" presName="txSpace" presStyleCnt="0"/>
      <dgm:spPr/>
    </dgm:pt>
    <dgm:pt modelId="{7D166BBB-55AF-452C-B9A0-94A1EE55FF4F}" type="pres">
      <dgm:prSet presAssocID="{23CA95F9-8BCF-40C1-B842-BCFFD43632F6}" presName="desTx" presStyleLbl="revTx" presStyleIdx="1" presStyleCnt="2">
        <dgm:presLayoutVars/>
      </dgm:prSet>
      <dgm:spPr/>
    </dgm:pt>
    <dgm:pt modelId="{860D3358-284A-4827-88CC-2F74FF5A1E56}" type="pres">
      <dgm:prSet presAssocID="{23CA95F9-8BCF-40C1-B842-BCFFD43632F6}" presName="bottSpace" presStyleCnt="0"/>
      <dgm:spPr/>
    </dgm:pt>
  </dgm:ptLst>
  <dgm:cxnLst>
    <dgm:cxn modelId="{E6EDE7CF-5B3F-4E2C-99EE-D5462F0EC9CE}" srcId="{5C72703F-EB58-4B0C-8B2A-EDF2A51B2C6C}" destId="{23CA95F9-8BCF-40C1-B842-BCFFD43632F6}" srcOrd="0" destOrd="0" parTransId="{FC4F4986-5DCD-4DC2-B7FD-2C5FABEF9979}" sibTransId="{D868EA7F-D868-4231-86D5-66D9B2DF2F62}"/>
    <dgm:cxn modelId="{DE44E4D8-C5CF-4438-860F-3C376D4D64F5}" type="presOf" srcId="{23CA95F9-8BCF-40C1-B842-BCFFD43632F6}" destId="{FDFAF16A-4FD0-49F4-8593-32E9A31A4FF7}" srcOrd="0" destOrd="0" presId="urn:microsoft.com/office/officeart/2019/1/layout/PeoplePortraitsList"/>
    <dgm:cxn modelId="{74A68EEE-876E-4134-B088-DC53246E11FE}" type="presOf" srcId="{5C72703F-EB58-4B0C-8B2A-EDF2A51B2C6C}" destId="{BF30E86D-EAFC-44CE-B56C-D7C5EC7742F3}" srcOrd="0" destOrd="0" presId="urn:microsoft.com/office/officeart/2019/1/layout/PeoplePortraitsList"/>
    <dgm:cxn modelId="{3D9D2C87-FAC6-440F-8296-405914DA77FA}" type="presParOf" srcId="{BF30E86D-EAFC-44CE-B56C-D7C5EC7742F3}" destId="{34A89649-B4A9-4A6F-8793-5A3DB37DDDA6}" srcOrd="0" destOrd="0" presId="urn:microsoft.com/office/officeart/2019/1/layout/PeoplePortraitsList"/>
    <dgm:cxn modelId="{10208EBB-3996-40BD-88FB-7743A0FCFC0C}" type="presParOf" srcId="{34A89649-B4A9-4A6F-8793-5A3DB37DDDA6}" destId="{FFB9F511-6797-4909-9D3B-89EBC96F25A8}" srcOrd="0" destOrd="0" presId="urn:microsoft.com/office/officeart/2019/1/layout/PeoplePortraitsList"/>
    <dgm:cxn modelId="{680FCFE1-C0D6-41B7-81EE-34F07569A758}" type="presParOf" srcId="{34A89649-B4A9-4A6F-8793-5A3DB37DDDA6}" destId="{73073D5B-7ADA-4F8B-AD34-0BE114905A44}" srcOrd="1" destOrd="0" presId="urn:microsoft.com/office/officeart/2019/1/layout/PeoplePortraitsList"/>
    <dgm:cxn modelId="{84E22014-947A-4B8C-A1FF-A1E4AAD40AF2}" type="presParOf" srcId="{34A89649-B4A9-4A6F-8793-5A3DB37DDDA6}" destId="{EE33220B-2292-4F19-BD6E-B7F529CD8414}" srcOrd="2" destOrd="0" presId="urn:microsoft.com/office/officeart/2019/1/layout/PeoplePortraitsList"/>
    <dgm:cxn modelId="{6B5D3C86-47CA-4D7E-A443-7DF8A6130E63}" type="presParOf" srcId="{34A89649-B4A9-4A6F-8793-5A3DB37DDDA6}" destId="{FDFAF16A-4FD0-49F4-8593-32E9A31A4FF7}" srcOrd="3" destOrd="0" presId="urn:microsoft.com/office/officeart/2019/1/layout/PeoplePortraitsList"/>
    <dgm:cxn modelId="{119527D7-3755-4E3D-BC66-7A27143BBB8B}" type="presParOf" srcId="{34A89649-B4A9-4A6F-8793-5A3DB37DDDA6}" destId="{EEB88C88-E325-43D0-B163-BFD87C897361}" srcOrd="4" destOrd="0" presId="urn:microsoft.com/office/officeart/2019/1/layout/PeoplePortraitsList"/>
    <dgm:cxn modelId="{8B410EAE-BFFA-4BD7-B4BA-16AABEF1EAA9}" type="presParOf" srcId="{34A89649-B4A9-4A6F-8793-5A3DB37DDDA6}" destId="{7D166BBB-55AF-452C-B9A0-94A1EE55FF4F}" srcOrd="5" destOrd="0" presId="urn:microsoft.com/office/officeart/2019/1/layout/PeoplePortraitsList"/>
    <dgm:cxn modelId="{02A3AE73-815E-459E-B530-44D4C95EF771}" type="presParOf" srcId="{34A89649-B4A9-4A6F-8793-5A3DB37DDDA6}" destId="{860D3358-284A-4827-88CC-2F74FF5A1E56}" srcOrd="6" destOrd="0" presId="urn:microsoft.com/office/officeart/2019/1/layout/PeoplePortraits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73D5B-7ADA-4F8B-AD34-0BE114905A44}">
      <dsp:nvSpPr>
        <dsp:cNvPr id="0" name=""/>
        <dsp:cNvSpPr/>
      </dsp:nvSpPr>
      <dsp:spPr>
        <a:xfrm>
          <a:off x="4288313" y="460948"/>
          <a:ext cx="2194559" cy="246888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2000" b="-2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AF16A-4FD0-49F4-8593-32E9A31A4FF7}">
      <dsp:nvSpPr>
        <dsp:cNvPr id="0" name=""/>
        <dsp:cNvSpPr/>
      </dsp:nvSpPr>
      <dsp:spPr>
        <a:xfrm>
          <a:off x="4188975" y="3081438"/>
          <a:ext cx="2393235" cy="487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 spc="20">
              <a:latin typeface="+mj-lt"/>
            </a:defRPr>
          </a:pPr>
          <a:r>
            <a:rPr lang="en-US" sz="1500" kern="1200" dirty="0">
              <a:solidFill>
                <a:schemeClr val="bg1"/>
              </a:solidFill>
            </a:rPr>
            <a:t>Giorgia Grazia </a:t>
          </a:r>
          <a:r>
            <a:rPr lang="en-US" sz="1500" kern="1200" dirty="0" err="1">
              <a:solidFill>
                <a:schemeClr val="bg1"/>
              </a:solidFill>
            </a:rPr>
            <a:t>Mucciarella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4188975" y="3081438"/>
        <a:ext cx="2393235" cy="487349"/>
      </dsp:txXfrm>
    </dsp:sp>
    <dsp:sp modelId="{7D166BBB-55AF-452C-B9A0-94A1EE55FF4F}">
      <dsp:nvSpPr>
        <dsp:cNvPr id="0" name=""/>
        <dsp:cNvSpPr/>
      </dsp:nvSpPr>
      <dsp:spPr>
        <a:xfrm>
          <a:off x="4188975" y="3416310"/>
          <a:ext cx="2393235" cy="60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9/1/layout/PeoplePortraitsList">
  <dgm:title val="People Portrait List"/>
  <dgm:desc val="People Portrait List"/>
  <dgm:catLst>
    <dgm:cat type="list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/>
      <dgm:constr type="w" for="ch" forName="compNode" refType="h" refFor="ch" refForName="compNode" fact="0.55"/>
      <dgm:constr type="w" for="ch" forName="sibTrans" refType="w" refFor="ch" refForName="compNode" fact="0.175"/>
      <dgm:constr type="primFontSz" for="des" forName="nameTx" val="18"/>
      <dgm:constr type="primFontSz" for="des" forName="desTx" refType="primFontSz" refFor="des" refForName="nameTx" op="lte" fact="0.75"/>
      <dgm:constr type="h" for="des" forName="topSpace" op="equ"/>
      <dgm:constr type="h" for="des" forName="compNode" op="equ"/>
      <dgm:constr type="h" for="des" forName="photoElip" op="equ"/>
      <dgm:constr type="w" for="des" forName="photoElip" op="equ"/>
      <dgm:constr type="l" for="des" forName="photoElip" op="equ"/>
      <dgm:constr type="h" for="des" forName="iconSpace" op="equ"/>
      <dgm:constr type="h" for="des" forName="nameTx" op="equ"/>
      <dgm:constr type="h" for="des" forName="txSpace" op="equ"/>
      <dgm:constr type="h" for="des" forName="desTx" op="equ"/>
      <dgm:constr type="h" for="des" forName="bottSpace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topSpace" refType="w"/>
          <dgm:constr type="h" for="ch" forName="topSpace" refType="h" fact="0.187"/>
          <dgm:constr type="l" for="ch" forName="topSpace"/>
          <dgm:constr type="w" for="ch" forName="photoElip" refType="h" refFor="ch" refForName="photoElip"/>
          <dgm:constr type="h" for="ch" forName="photoElip" val="46.775"/>
          <dgm:constr type="t" for="ch" forName="photoElip" refType="b" refFor="ch" refForName="topSpace"/>
          <dgm:constr type="ctrX" for="ch" forName="photoElip" refType="w" fact="0.5"/>
          <dgm:constr type="w" for="ch" forName="iconSpace" refType="w"/>
          <dgm:constr type="h" for="ch" forName="iconSpace" refType="h" fact="0.075"/>
          <dgm:constr type="l" for="ch" forName="iconSpace"/>
          <dgm:constr type="t" for="ch" forName="iconSpace" refType="b" refFor="ch" refForName="photoElip"/>
          <dgm:constr type="w" for="ch" forName="nameTx" refType="w"/>
          <dgm:constr type="h" for="ch" forName="nameTx" refType="h" fact="0.112"/>
          <dgm:constr type="l" for="ch" forName="nameTx"/>
          <dgm:constr type="t" for="ch" forName="nameTx" refType="b" refFor="ch" refForName="iconSpace"/>
          <dgm:constr type="h" for="ch" forName="txSpace" refType="h" fact="0.015"/>
          <dgm:constr type="w" for="ch" forName="txSpace" refType="w"/>
          <dgm:constr type="l" for="ch" forName="txSpace"/>
          <dgm:constr type="t" for="ch" forName="txSpace" refType="b" refFor="ch" refForName="nameTx"/>
          <dgm:constr type="w" for="ch" forName="desTx" refType="w"/>
          <dgm:constr type="l" for="ch" forName="desTx"/>
          <dgm:constr type="h" for="ch" forName="desTx" refType="h" fact="0.13875"/>
          <dgm:constr type="t" for="ch" forName="desTx" refType="b" refFor="ch" refForName="txSpace"/>
          <dgm:constr type="w" for="ch" forName="bottSpace" refType="w"/>
          <dgm:constr type="h" for="ch" forName="bottSpace" refType="h" fact="0.067"/>
          <dgm:constr type="l" for="ch" forName="bottSpace"/>
          <dgm:constr type="t" for="ch" forName="bottSpace" refType="b" refFor="ch" refForName="desTx"/>
        </dgm:constrLst>
        <dgm:ruleLst>
          <dgm:rule type="h" val="INF" fact="NaN" max="NaN"/>
        </dgm:ruleLst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hotoElip" styleLbl="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x" styleLbl="revTx">
          <dgm:varLst>
            <dgm:chMax val="0"/>
            <dgm:chPref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HorzCh" val="ct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13"/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13" fact="NaN" max="NaN"/>
            <dgm:rule type="h" val="INF" fact="NaN" max="NaN"/>
          </dgm:ruleLst>
        </dgm:layoutNode>
        <dgm:layoutNode name="bott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ctr">
          <a:lnSpc>
            <a:spcPct val="100000"/>
          </a:lnSpc>
          <a:defRPr b="1" spc="20">
            <a:latin typeface="+mj-lt"/>
          </a:defRPr>
        </a:lvl1pPr>
        <a:lvl2pPr algn="ctr">
          <a:lnSpc>
            <a:spcPct val="100000"/>
          </a:lnSpc>
          <a:defRPr>
            <a:latin typeface="+mj-lt"/>
          </a:defRPr>
        </a:lvl2pPr>
        <a:lvl3pPr algn="ctr">
          <a:buNone/>
          <a:defRPr i="1">
            <a:latin typeface="+mj-lt"/>
          </a:defRPr>
        </a:lvl3pPr>
        <a:lvl4pPr algn="ctr">
          <a:buNone/>
          <a:defRPr i="1">
            <a:latin typeface="+mj-lt"/>
          </a:defRPr>
        </a:lvl4pPr>
        <a:lvl5pPr algn="ctr">
          <a:buNone/>
          <a:defRPr i="1">
            <a:latin typeface="+mj-lt"/>
          </a:defRPr>
        </a:lvl5pPr>
        <a:lvl6pPr algn="ctr">
          <a:buNone/>
          <a:defRPr i="1">
            <a:latin typeface="+mj-lt"/>
          </a:defRPr>
        </a:lvl6pPr>
        <a:lvl7pPr algn="ctr">
          <a:buNone/>
          <a:defRPr i="1">
            <a:latin typeface="+mj-lt"/>
          </a:defRPr>
        </a:lvl7pPr>
        <a:lvl8pPr algn="ctr">
          <a:buNone/>
          <a:defRPr i="1">
            <a:latin typeface="+mj-lt"/>
          </a:defRPr>
        </a:lvl8pPr>
        <a:lvl9pPr algn="ctr">
          <a:buNone/>
          <a:defRPr i="1">
            <a:latin typeface="+mj-lt"/>
          </a:defRPr>
        </a:lvl9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7/7/2025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1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9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2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3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1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01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FB1B-A520-1635-B003-584B94FD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AD757E8-55F3-1B1C-41FE-B512E32F6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651A0AF-807E-1A84-B20B-720320AED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6261A1-215A-3825-A8A3-C5FE7BDA9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41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B4FE-6596-69C1-B134-F7E0BFCF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56AE5F-77B2-37A7-325A-EAF9FD35C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F83D7F-1172-9D8A-D17C-2B895647A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FEF5F3-872D-8723-3FE6-902D1120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61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estazione sezio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AA83C15-E3FA-980E-BEAC-314A41A01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7508"/>
            <a:ext cx="9144000" cy="2387600"/>
          </a:xfrm>
        </p:spPr>
        <p:txBody>
          <a:bodyPr>
            <a:noAutofit/>
          </a:bodyPr>
          <a:lstStyle/>
          <a:p>
            <a:r>
              <a:rPr lang="en-US" sz="3200" dirty="0"/>
              <a:t>Fine-tune an LLM for a closed-domain (contextual) question-answering task on </a:t>
            </a:r>
            <a:r>
              <a:rPr lang="en-US" sz="3200" dirty="0" err="1"/>
              <a:t>SQuAD</a:t>
            </a:r>
            <a:r>
              <a:rPr lang="en-US" sz="3200" dirty="0"/>
              <a:t> dataset. Benchmark using different PEFT approaches</a:t>
            </a:r>
            <a:br>
              <a:rPr lang="en-US" b="0" dirty="0"/>
            </a:br>
            <a:br>
              <a:rPr lang="it-IT" sz="4800" dirty="0"/>
            </a:br>
            <a:endParaRPr lang="en-US" sz="4800" dirty="0"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EC5560FC-488A-1402-B8F5-26253BD6A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2719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tserrat" panose="00000500000000000000" pitchFamily="2" charset="0"/>
              </a:rPr>
              <a:t>TEAM:  Giorgia Grazia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Montserrat" panose="00000500000000000000" pitchFamily="2" charset="0"/>
              </a:rPr>
              <a:t>Mucciarella</a:t>
            </a:r>
            <a:endParaRPr lang="en-US" sz="1800" b="0" i="0" u="none" strike="noStrike" baseline="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ontserrat" panose="00000500000000000000" pitchFamily="2" charset="0"/>
              </a:rPr>
              <a:t>1000069228</a:t>
            </a:r>
          </a:p>
          <a:p>
            <a:endParaRPr lang="en-US" sz="1800" b="0" i="0" u="none" strike="noStrike" baseline="0" dirty="0">
              <a:solidFill>
                <a:srgbClr val="243847"/>
              </a:solidFill>
              <a:latin typeface="Montserrat" panose="00000500000000000000" pitchFamily="2" charset="0"/>
            </a:endParaRPr>
          </a:p>
          <a:p>
            <a:r>
              <a:rPr lang="en-US" sz="1800" b="0" i="0" u="none" strike="noStrike" baseline="0" dirty="0">
                <a:solidFill>
                  <a:srgbClr val="243847"/>
                </a:solidFill>
                <a:latin typeface="Montserrat" panose="00000500000000000000" pitchFamily="2" charset="0"/>
              </a:rPr>
              <a:t>Cognitive Computing and Artificial Intelligenc</a:t>
            </a:r>
            <a:r>
              <a:rPr lang="en-US" sz="1800" dirty="0">
                <a:solidFill>
                  <a:srgbClr val="243847"/>
                </a:solidFill>
                <a:latin typeface="Montserrat" panose="00000500000000000000" pitchFamily="2" charset="0"/>
              </a:rPr>
              <a:t>e Course</a:t>
            </a:r>
            <a:endParaRPr lang="en-US" sz="1800" b="0" i="0" u="none" strike="noStrike" baseline="0" dirty="0">
              <a:solidFill>
                <a:srgbClr val="243847"/>
              </a:solidFill>
              <a:latin typeface="Montserrat" panose="00000500000000000000" pitchFamily="2" charset="0"/>
            </a:endParaRPr>
          </a:p>
          <a:p>
            <a:r>
              <a:rPr lang="en-US" sz="1800" b="0" i="0" u="none" strike="noStrike" baseline="0" dirty="0">
                <a:solidFill>
                  <a:srgbClr val="243847"/>
                </a:solidFill>
                <a:latin typeface="Montserrat" panose="00000500000000000000" pitchFamily="2" charset="0"/>
              </a:rPr>
              <a:t>University of Catania, Italy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352AA32-C711-EB03-4532-95192FE2C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1191" y="139959"/>
            <a:ext cx="982404" cy="98240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C9F9D30-A53D-4342-BDF5-26C3CA572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16" y="263905"/>
            <a:ext cx="2207419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3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11FB-F08D-2851-F956-34AB6228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396272-2372-AD8F-9DD7-B0EE045E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Modello e Configurazioni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84CC64-8C7E-7282-A08D-640B0918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2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8B7A20-7A02-AC40-F8CC-F28B13866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it-IT" dirty="0"/>
              <a:t>Modello: BERT-base-</a:t>
            </a:r>
            <a:r>
              <a:rPr lang="it-IT" dirty="0" err="1"/>
              <a:t>uncased</a:t>
            </a:r>
            <a:endParaRPr lang="it-IT" dirty="0"/>
          </a:p>
          <a:p>
            <a:pPr>
              <a:defRPr sz="2000"/>
            </a:pPr>
            <a:r>
              <a:rPr lang="it-IT" dirty="0"/>
              <a:t>Dropout: </a:t>
            </a:r>
            <a:r>
              <a:rPr lang="it-IT" dirty="0" err="1"/>
              <a:t>hidden</a:t>
            </a:r>
            <a:r>
              <a:rPr lang="it-IT" dirty="0"/>
              <a:t>=0.4, </a:t>
            </a:r>
            <a:r>
              <a:rPr lang="it-IT" dirty="0" err="1"/>
              <a:t>attention</a:t>
            </a:r>
            <a:r>
              <a:rPr lang="it-IT" dirty="0"/>
              <a:t>=0.4</a:t>
            </a:r>
          </a:p>
          <a:p>
            <a:pPr>
              <a:defRPr sz="2000"/>
            </a:pPr>
            <a:r>
              <a:rPr lang="it-IT" dirty="0"/>
              <a:t>SEED = 42 per riproducibilità</a:t>
            </a:r>
          </a:p>
          <a:p>
            <a:pPr>
              <a:defRPr sz="2000"/>
            </a:pPr>
            <a:endParaRPr lang="it-IT" dirty="0"/>
          </a:p>
          <a:p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B1B5203-B1C1-75A0-87CC-380FADE10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27" y="3157052"/>
            <a:ext cx="6120130" cy="1189355"/>
          </a:xfrm>
          <a:prstGeom prst="rect">
            <a:avLst/>
          </a:prstGeom>
        </p:spPr>
      </p:pic>
      <p:pic>
        <p:nvPicPr>
          <p:cNvPr id="5" name="Immagine 4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6A147862-10B3-35EC-084A-1C5029057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327" y="4697656"/>
            <a:ext cx="6120130" cy="140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7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5A69-D3BF-4A28-B988-56D1AC30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02BF18-54A9-148B-FCAA-C00C4AB3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Suddivisione del dataset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254549-6FA0-0F39-EBCC-2F7ABB50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3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BB896F-CC54-0266-8BA9-CCC23620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it-IT" dirty="0"/>
              <a:t>Dataset: </a:t>
            </a:r>
            <a:r>
              <a:rPr lang="it-IT" dirty="0" err="1"/>
              <a:t>SQuAD</a:t>
            </a:r>
            <a:r>
              <a:rPr lang="it-IT" dirty="0"/>
              <a:t> (domande, contesto, risposte)</a:t>
            </a:r>
          </a:p>
          <a:p>
            <a:pPr>
              <a:defRPr sz="2000"/>
            </a:pPr>
            <a:r>
              <a:rPr lang="it-IT" dirty="0"/>
              <a:t>Training set: 20%, </a:t>
            </a:r>
            <a:r>
              <a:rPr lang="it-IT" dirty="0" err="1"/>
              <a:t>Validation</a:t>
            </a:r>
            <a:r>
              <a:rPr lang="it-IT" dirty="0"/>
              <a:t>: 10%, Test: 10%</a:t>
            </a:r>
          </a:p>
          <a:p>
            <a:pPr>
              <a:defRPr sz="2000"/>
            </a:pPr>
            <a:r>
              <a:rPr lang="it-IT" dirty="0"/>
              <a:t>Riduzione dovuta a limiti GPU</a:t>
            </a:r>
          </a:p>
          <a:p>
            <a:endParaRPr lang="it-IT" dirty="0"/>
          </a:p>
        </p:txBody>
      </p:sp>
      <p:pic>
        <p:nvPicPr>
          <p:cNvPr id="2" name="Immagine 1" descr="Immagine che contiene testo, ricevut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5822CD2C-024B-CF20-6E0E-2FF953C4A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841" y="3229516"/>
            <a:ext cx="7278318" cy="25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2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FDC2-4645-C67C-3420-F54C36E4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AB808E-1FC6-5C85-5D1A-4C7642D7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Tecniche di Fine-Tuning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03CF4C6-A7A3-A9FA-A2BD-1B6E6F7D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4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C133F7-0C52-AC15-26A1-B4A550DF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b="1" dirty="0"/>
              <a:t>    Full Fine-Tuning:</a:t>
            </a:r>
            <a:endParaRPr lang="it-IT" dirty="0"/>
          </a:p>
          <a:p>
            <a:pPr lvl="0"/>
            <a:r>
              <a:rPr lang="it-IT" dirty="0"/>
              <a:t>Tutti i parametri del modello BERT vengono aggiornati durante il training.</a:t>
            </a:r>
          </a:p>
          <a:p>
            <a:pPr lvl="0"/>
            <a:r>
              <a:rPr lang="it-IT" dirty="0"/>
              <a:t>Parametri addestrabili: 108M+</a:t>
            </a:r>
          </a:p>
          <a:p>
            <a:pPr lvl="0"/>
            <a:r>
              <a:rPr lang="it-IT" dirty="0"/>
              <a:t>Richiede più risorse computazionali.</a:t>
            </a:r>
          </a:p>
          <a:p>
            <a:pPr marL="0" lv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    </a:t>
            </a:r>
            <a:r>
              <a:rPr lang="it-IT" b="1" dirty="0" err="1"/>
              <a:t>LoRA</a:t>
            </a:r>
            <a:r>
              <a:rPr lang="it-IT" b="1" dirty="0"/>
              <a:t> (Low-Rank Adaptation):</a:t>
            </a:r>
            <a:endParaRPr lang="it-IT" dirty="0"/>
          </a:p>
          <a:p>
            <a:pPr lvl="0"/>
            <a:r>
              <a:rPr lang="it-IT" dirty="0"/>
              <a:t>Solo ~296k parametri addestrabili (0.27%).</a:t>
            </a:r>
          </a:p>
          <a:p>
            <a:pPr lvl="0"/>
            <a:r>
              <a:rPr lang="it-IT" dirty="0"/>
              <a:t>Notevole risparmio in memoria e tempi di training.</a:t>
            </a:r>
          </a:p>
          <a:p>
            <a:pPr marL="0" lv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b="1" dirty="0"/>
              <a:t>    IA³ (</a:t>
            </a:r>
            <a:r>
              <a:rPr lang="it-IT" b="1" i="1" dirty="0" err="1"/>
              <a:t>Infused</a:t>
            </a:r>
            <a:r>
              <a:rPr lang="it-IT" b="1" i="1" dirty="0"/>
              <a:t> Adapter by </a:t>
            </a:r>
            <a:r>
              <a:rPr lang="it-IT" b="1" i="1" dirty="0" err="1"/>
              <a:t>Addition</a:t>
            </a:r>
            <a:r>
              <a:rPr lang="it-IT" b="1" i="1" dirty="0"/>
              <a:t> and </a:t>
            </a:r>
            <a:r>
              <a:rPr lang="it-IT" b="1" i="1" dirty="0" err="1"/>
              <a:t>Adjustment</a:t>
            </a:r>
            <a:r>
              <a:rPr lang="it-IT" b="1" dirty="0"/>
              <a:t>):</a:t>
            </a:r>
            <a:endParaRPr lang="it-IT" dirty="0"/>
          </a:p>
          <a:p>
            <a:pPr lvl="0"/>
            <a:r>
              <a:rPr lang="it-IT" dirty="0"/>
              <a:t>Variante PEFT che inserisce un vettore di scalamento additivo nei </a:t>
            </a:r>
            <a:r>
              <a:rPr lang="it-IT" dirty="0" err="1"/>
              <a:t>layer</a:t>
            </a:r>
            <a:r>
              <a:rPr lang="it-IT" dirty="0"/>
              <a:t> di attenzione</a:t>
            </a:r>
          </a:p>
          <a:p>
            <a:pPr lvl="0"/>
            <a:r>
              <a:rPr lang="it-IT" dirty="0"/>
              <a:t>Riduce drasticamente il numero di parametri</a:t>
            </a:r>
          </a:p>
          <a:p>
            <a:pPr lvl="0"/>
            <a:r>
              <a:rPr lang="it-IT" dirty="0"/>
              <a:t>Circa 69k parametri allenabili (0.06%)</a:t>
            </a:r>
          </a:p>
          <a:p>
            <a:pPr lvl="0"/>
            <a:r>
              <a:rPr lang="it-IT" dirty="0"/>
              <a:t>Estremamente leggero</a:t>
            </a:r>
          </a:p>
        </p:txBody>
      </p:sp>
    </p:spTree>
    <p:extLst>
      <p:ext uri="{BB962C8B-B14F-4D97-AF65-F5344CB8AC3E}">
        <p14:creationId xmlns:p14="http://schemas.microsoft.com/office/powerpoint/2010/main" val="74732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5A99-F5EF-58A3-4537-889A406B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03813-A08E-C4D9-9780-EB748635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preprocess_function</a:t>
            </a:r>
            <a:r>
              <a:rPr lang="it-IT" dirty="0"/>
              <a:t> 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D8E3EE-1E0F-4B71-34B7-10EB65B3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5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D6C791-B1EE-6DA3-DCFE-3D79ACF29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28944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2ABB80C-10BE-14B0-65F1-EF6DAB5AE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18" y="1470100"/>
            <a:ext cx="4689506" cy="430274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8A92E66-CC82-1C78-CAEB-676C0A3BC890}"/>
              </a:ext>
            </a:extLst>
          </p:cNvPr>
          <p:cNvSpPr txBox="1"/>
          <p:nvPr/>
        </p:nvSpPr>
        <p:spPr>
          <a:xfrm>
            <a:off x="5563497" y="2155156"/>
            <a:ext cx="6094206" cy="324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 definito la funzione 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preprocess_function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examples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per adattare il dataset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SQuAD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al task di QA; l’obiettivo è convertire: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Input: "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question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", "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context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", "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answers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 (con indici di caratteri)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In: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input_ids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attention_mask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start_positions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end_positions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compatibili con il modello.</a:t>
            </a:r>
          </a:p>
        </p:txBody>
      </p:sp>
    </p:spTree>
    <p:extLst>
      <p:ext uri="{BB962C8B-B14F-4D97-AF65-F5344CB8AC3E}">
        <p14:creationId xmlns:p14="http://schemas.microsoft.com/office/powerpoint/2010/main" val="331962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65A37-9495-0FE3-AD44-2012294AB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CD4850-7B43-283E-D604-11756BA2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t-IT" dirty="0"/>
              <a:t>Metriche di Valutazione</a:t>
            </a:r>
            <a:br>
              <a:rPr lang="it-IT" dirty="0"/>
            </a:b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5D4C0B-4AC5-4F91-2125-58FEF83A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6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1C6D8-F85F-02D1-834B-FD7E54E74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4451" y="1914278"/>
            <a:ext cx="5272142" cy="4206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/>
              <a:t>Per valutare le performance, sono state calcolate nella funzione </a:t>
            </a:r>
            <a:r>
              <a:rPr lang="it-IT" sz="2000" b="1" dirty="0" err="1"/>
              <a:t>eval</a:t>
            </a:r>
            <a:r>
              <a:rPr lang="it-IT" sz="2000" b="1" dirty="0"/>
              <a:t>(model, dataset):</a:t>
            </a:r>
            <a:endParaRPr lang="it-IT" sz="2000" dirty="0"/>
          </a:p>
          <a:p>
            <a:pPr lvl="0"/>
            <a:r>
              <a:rPr lang="it-IT" sz="2000" b="1" dirty="0" err="1"/>
              <a:t>Exact</a:t>
            </a:r>
            <a:r>
              <a:rPr lang="it-IT" sz="2000" b="1" dirty="0"/>
              <a:t> Match (EM)</a:t>
            </a:r>
            <a:r>
              <a:rPr lang="it-IT" sz="2000" dirty="0"/>
              <a:t>: quanto la risposta generata corrisponde esattamente a quella vera.</a:t>
            </a:r>
          </a:p>
          <a:p>
            <a:pPr lvl="0"/>
            <a:r>
              <a:rPr lang="it-IT" sz="2000" b="1" dirty="0"/>
              <a:t>F1 Score</a:t>
            </a:r>
            <a:r>
              <a:rPr lang="it-IT" sz="2000" dirty="0"/>
              <a:t>: armonica tra precisione e richiamo.</a:t>
            </a:r>
          </a:p>
          <a:p>
            <a:pPr lvl="0"/>
            <a:r>
              <a:rPr lang="it-IT" sz="2000" b="1" dirty="0"/>
              <a:t>ROUGE-L</a:t>
            </a:r>
            <a:r>
              <a:rPr lang="it-IT" sz="2000" dirty="0"/>
              <a:t>: misura l’</a:t>
            </a:r>
            <a:r>
              <a:rPr lang="it-IT" sz="2000" dirty="0" err="1"/>
              <a:t>overlap</a:t>
            </a:r>
            <a:r>
              <a:rPr lang="it-IT" sz="2000" dirty="0"/>
              <a:t> tra sottosequenze più lunghe.</a:t>
            </a:r>
          </a:p>
          <a:p>
            <a:pPr lvl="0"/>
            <a:r>
              <a:rPr lang="it-IT" sz="2000" b="1" dirty="0"/>
              <a:t>BLEU-1</a:t>
            </a:r>
            <a:r>
              <a:rPr lang="it-IT" sz="2000" dirty="0"/>
              <a:t>: misura l’</a:t>
            </a:r>
            <a:r>
              <a:rPr lang="it-IT" sz="2000" dirty="0" err="1"/>
              <a:t>overlap</a:t>
            </a:r>
            <a:r>
              <a:rPr lang="it-IT" sz="2000" dirty="0"/>
              <a:t> su singole parole (n-grammi).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3D9C3-AFE8-A4AD-434E-D3CD84F2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21" y="1906135"/>
            <a:ext cx="5841130" cy="387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5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7695-6344-452F-8476-53F5A6BE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693F1D-B08A-1F6D-8F77-9EC58E18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7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2" name="Immagine 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1068E15-6A57-0D29-7C93-9FAB2E734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69" y="1104218"/>
            <a:ext cx="5468568" cy="464956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89B836-19A3-A89B-3867-11E6E1FFB037}"/>
              </a:ext>
            </a:extLst>
          </p:cNvPr>
          <p:cNvSpPr txBox="1"/>
          <p:nvPr/>
        </p:nvSpPr>
        <p:spPr>
          <a:xfrm>
            <a:off x="7006366" y="1104218"/>
            <a:ext cx="4225065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effectLst/>
                <a:ea typeface="Aptos" panose="020B0004020202020204" pitchFamily="34" charset="0"/>
              </a:rPr>
              <a:t>Con </a:t>
            </a:r>
            <a:r>
              <a:rPr lang="it-IT" sz="2000" b="1" dirty="0" err="1">
                <a:effectLst/>
                <a:ea typeface="Aptos" panose="020B0004020202020204" pitchFamily="34" charset="0"/>
              </a:rPr>
              <a:t>TrainingArguments</a:t>
            </a:r>
            <a:r>
              <a:rPr lang="it-IT" sz="2000" dirty="0">
                <a:effectLst/>
                <a:ea typeface="Aptos" panose="020B0004020202020204" pitchFamily="34" charset="0"/>
              </a:rPr>
              <a:t> setto tutti i parametri necessari per l’addestramento del modello, poi creo il </a:t>
            </a:r>
            <a:r>
              <a:rPr lang="it-IT" sz="2000" b="1" dirty="0">
                <a:effectLst/>
                <a:ea typeface="Aptos" panose="020B0004020202020204" pitchFamily="34" charset="0"/>
              </a:rPr>
              <a:t>Trainer</a:t>
            </a:r>
            <a:r>
              <a:rPr lang="it-IT" sz="2000" dirty="0">
                <a:effectLst/>
                <a:ea typeface="Aptos" panose="020B0004020202020204" pitchFamily="34" charset="0"/>
              </a:rPr>
              <a:t> e lancio l’addestramento con </a:t>
            </a:r>
            <a:r>
              <a:rPr lang="it-IT" sz="2000" b="1" dirty="0" err="1">
                <a:effectLst/>
                <a:ea typeface="Aptos" panose="020B0004020202020204" pitchFamily="34" charset="0"/>
              </a:rPr>
              <a:t>trainer.train</a:t>
            </a:r>
            <a:r>
              <a:rPr lang="it-IT" sz="2000" b="1" dirty="0">
                <a:effectLst/>
                <a:ea typeface="Aptos" panose="020B0004020202020204" pitchFamily="34" charset="0"/>
              </a:rPr>
              <a:t>().</a:t>
            </a:r>
          </a:p>
          <a:p>
            <a:endParaRPr lang="it-IT" sz="2000" b="1" dirty="0">
              <a:effectLst/>
              <a:ea typeface="Aptos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dirty="0">
                <a:ea typeface="Aptos" panose="020B0004020202020204" pitchFamily="34" charset="0"/>
                <a:cs typeface="Arial" panose="020B0604020202020204" pitchFamily="34" charset="0"/>
              </a:rPr>
              <a:t>Dopo il training, valuto i vari checkpoint salvati. Per ogni checkpoint: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>
                <a:ea typeface="Aptos" panose="020B0004020202020204" pitchFamily="34" charset="0"/>
                <a:cs typeface="Arial" panose="020B0604020202020204" pitchFamily="34" charset="0"/>
              </a:rPr>
              <a:t>Carico il modello</a:t>
            </a:r>
            <a:endParaRPr lang="it-IT" altLang="it-IT" sz="20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>
                <a:ea typeface="Aptos" panose="020B0004020202020204" pitchFamily="34" charset="0"/>
                <a:cs typeface="Arial" panose="020B0604020202020204" pitchFamily="34" charset="0"/>
              </a:rPr>
              <a:t>Lo valuto sulla </a:t>
            </a:r>
            <a:r>
              <a:rPr lang="it-IT" altLang="it-IT" sz="2000" dirty="0" err="1">
                <a:ea typeface="Aptos" panose="020B0004020202020204" pitchFamily="34" charset="0"/>
                <a:cs typeface="Arial" panose="020B0604020202020204" pitchFamily="34" charset="0"/>
              </a:rPr>
              <a:t>validation</a:t>
            </a:r>
            <a:r>
              <a:rPr lang="it-IT" altLang="it-IT" sz="2000" dirty="0">
                <a:ea typeface="Aptos" panose="020B0004020202020204" pitchFamily="34" charset="0"/>
                <a:cs typeface="Arial" panose="020B0604020202020204" pitchFamily="34" charset="0"/>
              </a:rPr>
              <a:t> set</a:t>
            </a:r>
            <a:endParaRPr lang="it-IT" altLang="it-IT" sz="20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dirty="0">
                <a:ea typeface="Aptos" panose="020B0004020202020204" pitchFamily="34" charset="0"/>
                <a:cs typeface="Arial" panose="020B0604020202020204" pitchFamily="34" charset="0"/>
              </a:rPr>
              <a:t>Salvo quello con F1 maggiore</a:t>
            </a:r>
            <a:endParaRPr lang="it-IT" altLang="it-IT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2000" dirty="0">
                <a:ea typeface="Aptos" panose="020B0004020202020204" pitchFamily="34" charset="0"/>
                <a:cs typeface="Arial" panose="020B0604020202020204" pitchFamily="34" charset="0"/>
              </a:rPr>
              <a:t>Infine, ricarico il modello migliore e lo valuto sul test set.</a:t>
            </a:r>
            <a:endParaRPr lang="it-IT" altLang="it-IT" sz="2000" dirty="0"/>
          </a:p>
          <a:p>
            <a:endParaRPr lang="it-IT" sz="1800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endParaRPr lang="it-IT" b="1" dirty="0">
              <a:latin typeface="Arial" panose="020B0604020202020204" pitchFamily="34" charset="0"/>
            </a:endParaRPr>
          </a:p>
          <a:p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8FFF463-5E1A-EB91-414F-2C6A7C254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475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7932-C0CC-E050-A726-3F4C0806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F5F21E-F58A-6FDE-2DF4-A4DF92FB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dirty="0"/>
              <a:t>Risultati finali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360FAE5-CCAF-48C0-8572-B0118183F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8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D97DC38B-B80D-743A-8B4E-44811FA08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7" y="1590328"/>
            <a:ext cx="10194073" cy="1214182"/>
          </a:xfrm>
          <a:prstGeom prst="rect">
            <a:avLst/>
          </a:prstGeom>
        </p:spPr>
      </p:pic>
      <p:pic>
        <p:nvPicPr>
          <p:cNvPr id="7" name="Immagine 6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4D77B896-808B-3096-A634-008C541965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85" y="2915890"/>
            <a:ext cx="3718373" cy="2951873"/>
          </a:xfrm>
          <a:prstGeom prst="rect">
            <a:avLst/>
          </a:prstGeom>
        </p:spPr>
      </p:pic>
      <p:pic>
        <p:nvPicPr>
          <p:cNvPr id="8" name="Immagine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4AAB8AC5-1976-7AAF-CD2A-F7F27DB0B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493" y="3092527"/>
            <a:ext cx="3440151" cy="277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2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D7F6-3A85-C87B-D937-0B4028EE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B0436-6F75-4C62-EED9-6A94C926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dirty="0"/>
              <a:t>Risultati finali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C3AEF14-04D6-8FE3-B441-121819E9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9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5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1F851F4-1D67-4BA4-7D43-F29591510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85353" y="1868258"/>
            <a:ext cx="3704228" cy="3121483"/>
          </a:xfrm>
          <a:prstGeom prst="rect">
            <a:avLst/>
          </a:prstGeom>
        </p:spPr>
      </p:pic>
      <p:pic>
        <p:nvPicPr>
          <p:cNvPr id="10" name="Immagine 9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3E9F95E6-0B00-B81C-42DA-04B32342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919" y="1914309"/>
            <a:ext cx="3704228" cy="310788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E5A7F60-F027-FC1A-9DDE-4B4833D8291C}"/>
              </a:ext>
            </a:extLst>
          </p:cNvPr>
          <p:cNvSpPr txBox="1"/>
          <p:nvPr/>
        </p:nvSpPr>
        <p:spPr>
          <a:xfrm>
            <a:off x="3154681" y="4989741"/>
            <a:ext cx="6094206" cy="1719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Il Full fine-tuning offre, rispetto a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LoRA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 ad IA³, i migliori risultati in termini di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Exact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Match (10.97), F1 (14.80), Rouge L (0.16) e Bleu 1 (0.02) ma al costo di dover aggiornare tutti i parametri.</a:t>
            </a:r>
          </a:p>
        </p:txBody>
      </p:sp>
    </p:spTree>
    <p:extLst>
      <p:ext uri="{BB962C8B-B14F-4D97-AF65-F5344CB8AC3E}">
        <p14:creationId xmlns:p14="http://schemas.microsoft.com/office/powerpoint/2010/main" val="2131737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7778-3B8A-8117-4D64-9E73599D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3DC480-9FF5-2C44-7A31-1B2B3E0DE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44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t-IT" sz="5400" dirty="0"/>
              <a:t>Effetto del learning rate su </a:t>
            </a:r>
            <a:r>
              <a:rPr lang="it-IT" dirty="0" err="1"/>
              <a:t>LoRA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50A9EB6-222F-E6E6-BC50-9FBACE7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10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6F24FEF-149A-7B2C-D4DC-F7E139E0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79" y="1960031"/>
            <a:ext cx="5600501" cy="411477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061E368-DB7A-FF55-0252-CCF6C56A5105}"/>
              </a:ext>
            </a:extLst>
          </p:cNvPr>
          <p:cNvSpPr txBox="1"/>
          <p:nvPr/>
        </p:nvSpPr>
        <p:spPr>
          <a:xfrm>
            <a:off x="6916272" y="2325792"/>
            <a:ext cx="4551380" cy="4435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 definito la funzione 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train_model_lora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train_dataset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eval_dataset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tokenizer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learning_rate</a:t>
            </a:r>
            <a:r>
              <a:rPr lang="it-IT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=1e-5):</a:t>
            </a:r>
            <a:endParaRPr lang="it-IT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 addestrato il modello con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LoRA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 salvato i checkpoint,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 selezionato il miglior checkpoint basandomi sul miglior F1 su </a:t>
            </a:r>
            <a:r>
              <a:rPr lang="it-IT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validation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 valutato quel modello sul test set.</a:t>
            </a:r>
          </a:p>
        </p:txBody>
      </p:sp>
    </p:spTree>
    <p:extLst>
      <p:ext uri="{BB962C8B-B14F-4D97-AF65-F5344CB8AC3E}">
        <p14:creationId xmlns:p14="http://schemas.microsoft.com/office/powerpoint/2010/main" val="307571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C773-A46B-F6E5-3962-F69A7E4F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64B6D-C1FE-9F6B-16F9-EF52BE63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763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t-IT" sz="5400" dirty="0"/>
              <a:t>Effetto del learning rate su </a:t>
            </a:r>
            <a:r>
              <a:rPr lang="it-IT" dirty="0" err="1"/>
              <a:t>LoRA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3208747-09F2-44DB-1B68-2EBA3689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11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8DF8B9A-1EB2-D16E-5D6A-FA0375291ABD}"/>
              </a:ext>
            </a:extLst>
          </p:cNvPr>
          <p:cNvSpPr txBox="1"/>
          <p:nvPr/>
        </p:nvSpPr>
        <p:spPr>
          <a:xfrm>
            <a:off x="6916272" y="2325792"/>
            <a:ext cx="45513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F1 </a:t>
            </a:r>
            <a:r>
              <a:rPr lang="it-IT" dirty="0"/>
              <a:t>mostra un calo quasi lineare all’aumentare del learning rate da 1e-5 a 5e-5; questo indica che il modello perde capacità di generalizzazione fine, andando verso un </a:t>
            </a:r>
            <a:r>
              <a:rPr lang="it-IT" dirty="0" err="1"/>
              <a:t>overfitting</a:t>
            </a:r>
            <a:r>
              <a:rPr lang="it-IT" dirty="0"/>
              <a:t> locale.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Exact</a:t>
            </a:r>
            <a:r>
              <a:rPr lang="it-IT" b="1" dirty="0"/>
              <a:t> Match </a:t>
            </a:r>
            <a:r>
              <a:rPr lang="it-IT" dirty="0"/>
              <a:t>aumenta leggermente fino a 2e-5, poi cala e si stabilizza. Tuttavia i valori sono sempre molto bassi (&lt; 1.5), quindi poco affidabili da soli.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ROUGE-L e BLEU-1 </a:t>
            </a:r>
            <a:r>
              <a:rPr lang="it-IT" dirty="0"/>
              <a:t>restano sempre bassi ma massimi con 1e-5, poi calano</a:t>
            </a:r>
            <a:endParaRPr lang="it-IT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magine 1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AC82DED3-E05B-6AD6-186A-E1AA4BC7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42" y="2130966"/>
            <a:ext cx="6120130" cy="335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5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184F-1D9B-44FE-2FDA-099DAA7C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089759-7E26-26CC-4BF7-5F1198CD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Conclusioni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4F85C9-3C54-7151-E67B-4001B5CC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12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6634D7-D050-FABC-C085-03D3623CA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it-IT" sz="2000" dirty="0"/>
              <a:t>Il </a:t>
            </a:r>
            <a:r>
              <a:rPr lang="it-IT" sz="2000" b="1" dirty="0"/>
              <a:t>Full Fine Tuning </a:t>
            </a:r>
            <a:r>
              <a:rPr lang="it-IT" sz="2000" dirty="0"/>
              <a:t>offre le prestazioni migliori, ma ha un costo computazionale elevato.</a:t>
            </a:r>
          </a:p>
          <a:p>
            <a:pPr lvl="0"/>
            <a:r>
              <a:rPr lang="it-IT" sz="2000" dirty="0"/>
              <a:t>La </a:t>
            </a:r>
            <a:r>
              <a:rPr lang="it-IT" sz="2000" b="1" dirty="0"/>
              <a:t>scelta del learning rate</a:t>
            </a:r>
            <a:r>
              <a:rPr lang="it-IT" sz="2000" dirty="0"/>
              <a:t> è cruciale per </a:t>
            </a:r>
            <a:r>
              <a:rPr lang="it-IT" sz="2000" dirty="0" err="1"/>
              <a:t>LoRA</a:t>
            </a:r>
            <a:r>
              <a:rPr lang="it-IT" sz="2000" dirty="0"/>
              <a:t>: valori troppo alti degradano rapidamente le prestazioni.</a:t>
            </a:r>
          </a:p>
          <a:p>
            <a:pPr lvl="0"/>
            <a:r>
              <a:rPr lang="it-IT" sz="2000" dirty="0"/>
              <a:t>Le metriche ROUGE-L e BLEU-1 restano basse per la natura estrattiva del QA; </a:t>
            </a:r>
            <a:r>
              <a:rPr lang="it-IT" sz="2000" b="1" dirty="0"/>
              <a:t>EM e F1</a:t>
            </a:r>
            <a:r>
              <a:rPr lang="it-IT" sz="2000" dirty="0"/>
              <a:t> sono le più significative.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58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graphicFrame>
        <p:nvGraphicFramePr>
          <p:cNvPr id="7" name="Content Placeholder 2" descr="Team SmartArt graphic">
            <a:extLst>
              <a:ext uri="{FF2B5EF4-FFF2-40B4-BE49-F238E27FC236}">
                <a16:creationId xmlns:a16="http://schemas.microsoft.com/office/drawing/2014/main" id="{03C6056F-38E4-47B4-87B7-F1F7D129B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71779"/>
              </p:ext>
            </p:extLst>
          </p:nvPr>
        </p:nvGraphicFramePr>
        <p:xfrm>
          <a:off x="576263" y="1825625"/>
          <a:ext cx="107711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31DF2-0419-4016-924C-21929AC1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Personalizzato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{C038943D-EE37-422E-AD8A-D1ADCBAB749E}tf89338750_win32</Template>
  <TotalTime>7752</TotalTime>
  <Words>652</Words>
  <Application>Microsoft Office PowerPoint</Application>
  <PresentationFormat>Widescreen</PresentationFormat>
  <Paragraphs>87</Paragraphs>
  <Slides>13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Montserrat</vt:lpstr>
      <vt:lpstr>Symbol</vt:lpstr>
      <vt:lpstr>GradientUnivers</vt:lpstr>
      <vt:lpstr>Fine-tune an LLM for a closed-domain (contextual) question-answering task on SQuAD dataset. Benchmark using different PEFT approaches  </vt:lpstr>
      <vt:lpstr>Modello e Configurazioni</vt:lpstr>
      <vt:lpstr>Suddivisione del dataset</vt:lpstr>
      <vt:lpstr>Tecniche di Fine-Tuning</vt:lpstr>
      <vt:lpstr>preprocess_function </vt:lpstr>
      <vt:lpstr>Metriche di Valutazione </vt:lpstr>
      <vt:lpstr>Presentazione standard di PowerPoint</vt:lpstr>
      <vt:lpstr>Risultati finali</vt:lpstr>
      <vt:lpstr>Risultati finali</vt:lpstr>
      <vt:lpstr>Effetto del learning rate su LoRA</vt:lpstr>
      <vt:lpstr>Effetto del learning rate su LoRA</vt:lpstr>
      <vt:lpstr>Conclusioni</vt:lpstr>
      <vt:lpstr>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Galaxy</dc:title>
  <dc:creator>Salvo Calcagno</dc:creator>
  <cp:lastModifiedBy>GIORGIA GRAZIA MUCCIARELLA</cp:lastModifiedBy>
  <cp:revision>36</cp:revision>
  <dcterms:created xsi:type="dcterms:W3CDTF">2023-05-16T15:20:59Z</dcterms:created>
  <dcterms:modified xsi:type="dcterms:W3CDTF">2025-07-07T12:40:03Z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