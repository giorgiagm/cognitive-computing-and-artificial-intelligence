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7"/>
  </p:notesMasterIdLst>
  <p:sldIdLst>
    <p:sldId id="314" r:id="rId5"/>
    <p:sldId id="307" r:id="rId6"/>
    <p:sldId id="308" r:id="rId7"/>
    <p:sldId id="329" r:id="rId8"/>
    <p:sldId id="318" r:id="rId9"/>
    <p:sldId id="311" r:id="rId10"/>
    <p:sldId id="315" r:id="rId11"/>
    <p:sldId id="316" r:id="rId12"/>
    <p:sldId id="303" r:id="rId13"/>
    <p:sldId id="317" r:id="rId14"/>
    <p:sldId id="322" r:id="rId15"/>
    <p:sldId id="305" r:id="rId16"/>
    <p:sldId id="320" r:id="rId17"/>
    <p:sldId id="323" r:id="rId18"/>
    <p:sldId id="304" r:id="rId19"/>
    <p:sldId id="326" r:id="rId20"/>
    <p:sldId id="327" r:id="rId21"/>
    <p:sldId id="325" r:id="rId22"/>
    <p:sldId id="328" r:id="rId23"/>
    <p:sldId id="324" r:id="rId24"/>
    <p:sldId id="312" r:id="rId25"/>
    <p:sldId id="3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6144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2703F-EB58-4B0C-8B2A-EDF2A51B2C6C}" type="doc">
      <dgm:prSet loTypeId="urn:microsoft.com/office/officeart/2019/1/layout/PeoplePortraitsList" loCatId="profi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CA95F9-8BCF-40C1-B842-BCFFD43632F6}">
      <dgm:prSet/>
      <dgm:spPr/>
      <dgm:t>
        <a:bodyPr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en-US" dirty="0">
              <a:solidFill>
                <a:schemeClr val="bg1"/>
              </a:solidFill>
            </a:rPr>
            <a:t>Giorgia Grazia </a:t>
          </a:r>
          <a:r>
            <a:rPr lang="en-US" dirty="0" err="1">
              <a:solidFill>
                <a:schemeClr val="bg1"/>
              </a:solidFill>
            </a:rPr>
            <a:t>Mucciarella</a:t>
          </a:r>
          <a:endParaRPr lang="en-US" dirty="0">
            <a:solidFill>
              <a:schemeClr val="bg1"/>
            </a:solidFill>
          </a:endParaRPr>
        </a:p>
      </dgm:t>
    </dgm:pt>
    <dgm:pt modelId="{FC4F4986-5DCD-4DC2-B7FD-2C5FABEF9979}" type="parTrans" cxnId="{E6EDE7CF-5B3F-4E2C-99EE-D5462F0EC9CE}">
      <dgm:prSet/>
      <dgm:spPr/>
      <dgm:t>
        <a:bodyPr/>
        <a:lstStyle/>
        <a:p>
          <a:endParaRPr lang="en-US"/>
        </a:p>
      </dgm:t>
    </dgm:pt>
    <dgm:pt modelId="{D868EA7F-D868-4231-86D5-66D9B2DF2F62}" type="sibTrans" cxnId="{E6EDE7CF-5B3F-4E2C-99EE-D5462F0EC9CE}">
      <dgm:prSet/>
      <dgm:spPr/>
      <dgm:t>
        <a:bodyPr/>
        <a:lstStyle/>
        <a:p>
          <a:endParaRPr lang="en-US"/>
        </a:p>
      </dgm:t>
    </dgm:pt>
    <dgm:pt modelId="{BF30E86D-EAFC-44CE-B56C-D7C5EC7742F3}" type="pres">
      <dgm:prSet presAssocID="{5C72703F-EB58-4B0C-8B2A-EDF2A51B2C6C}" presName="root" presStyleCnt="0">
        <dgm:presLayoutVars>
          <dgm:dir/>
          <dgm:resizeHandles val="exact"/>
        </dgm:presLayoutVars>
      </dgm:prSet>
      <dgm:spPr/>
    </dgm:pt>
    <dgm:pt modelId="{34A89649-B4A9-4A6F-8793-5A3DB37DDDA6}" type="pres">
      <dgm:prSet presAssocID="{23CA95F9-8BCF-40C1-B842-BCFFD43632F6}" presName="compNode" presStyleCnt="0"/>
      <dgm:spPr/>
    </dgm:pt>
    <dgm:pt modelId="{FFB9F511-6797-4909-9D3B-89EBC96F25A8}" type="pres">
      <dgm:prSet presAssocID="{23CA95F9-8BCF-40C1-B842-BCFFD43632F6}" presName="topSpace" presStyleCnt="0"/>
      <dgm:spPr/>
    </dgm:pt>
    <dgm:pt modelId="{73073D5B-7ADA-4F8B-AD34-0BE114905A44}" type="pres">
      <dgm:prSet presAssocID="{23CA95F9-8BCF-40C1-B842-BCFFD43632F6}" presName="photoElip" presStyleLbl="node1" presStyleIdx="0" presStyleCnt="1" custScaleX="130326" custScaleY="146617"/>
      <dgm:spPr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000" b="-2000"/>
          </a:stretch>
        </a:blipFill>
        <a:ln>
          <a:noFill/>
        </a:ln>
      </dgm:spPr>
    </dgm:pt>
    <dgm:pt modelId="{EE33220B-2292-4F19-BD6E-B7F529CD8414}" type="pres">
      <dgm:prSet presAssocID="{23CA95F9-8BCF-40C1-B842-BCFFD43632F6}" presName="iconSpace" presStyleCnt="0"/>
      <dgm:spPr/>
    </dgm:pt>
    <dgm:pt modelId="{FDFAF16A-4FD0-49F4-8593-32E9A31A4FF7}" type="pres">
      <dgm:prSet presAssocID="{23CA95F9-8BCF-40C1-B842-BCFFD43632F6}" presName="nameTx" presStyleLbl="revTx" presStyleIdx="0" presStyleCnt="2" custLinFactNeighborY="44680">
        <dgm:presLayoutVars>
          <dgm:chMax val="0"/>
          <dgm:chPref val="0"/>
        </dgm:presLayoutVars>
      </dgm:prSet>
      <dgm:spPr/>
    </dgm:pt>
    <dgm:pt modelId="{EEB88C88-E325-43D0-B163-BFD87C897361}" type="pres">
      <dgm:prSet presAssocID="{23CA95F9-8BCF-40C1-B842-BCFFD43632F6}" presName="txSpace" presStyleCnt="0"/>
      <dgm:spPr/>
    </dgm:pt>
    <dgm:pt modelId="{7D166BBB-55AF-452C-B9A0-94A1EE55FF4F}" type="pres">
      <dgm:prSet presAssocID="{23CA95F9-8BCF-40C1-B842-BCFFD43632F6}" presName="desTx" presStyleLbl="revTx" presStyleIdx="1" presStyleCnt="2">
        <dgm:presLayoutVars/>
      </dgm:prSet>
      <dgm:spPr/>
    </dgm:pt>
    <dgm:pt modelId="{860D3358-284A-4827-88CC-2F74FF5A1E56}" type="pres">
      <dgm:prSet presAssocID="{23CA95F9-8BCF-40C1-B842-BCFFD43632F6}" presName="bottSpace" presStyleCnt="0"/>
      <dgm:spPr/>
    </dgm:pt>
  </dgm:ptLst>
  <dgm:cxnLst>
    <dgm:cxn modelId="{E6EDE7CF-5B3F-4E2C-99EE-D5462F0EC9CE}" srcId="{5C72703F-EB58-4B0C-8B2A-EDF2A51B2C6C}" destId="{23CA95F9-8BCF-40C1-B842-BCFFD43632F6}" srcOrd="0" destOrd="0" parTransId="{FC4F4986-5DCD-4DC2-B7FD-2C5FABEF9979}" sibTransId="{D868EA7F-D868-4231-86D5-66D9B2DF2F62}"/>
    <dgm:cxn modelId="{DE44E4D8-C5CF-4438-860F-3C376D4D64F5}" type="presOf" srcId="{23CA95F9-8BCF-40C1-B842-BCFFD43632F6}" destId="{FDFAF16A-4FD0-49F4-8593-32E9A31A4FF7}" srcOrd="0" destOrd="0" presId="urn:microsoft.com/office/officeart/2019/1/layout/PeoplePortraitsList"/>
    <dgm:cxn modelId="{74A68EEE-876E-4134-B088-DC53246E11FE}" type="presOf" srcId="{5C72703F-EB58-4B0C-8B2A-EDF2A51B2C6C}" destId="{BF30E86D-EAFC-44CE-B56C-D7C5EC7742F3}" srcOrd="0" destOrd="0" presId="urn:microsoft.com/office/officeart/2019/1/layout/PeoplePortraitsList"/>
    <dgm:cxn modelId="{3D9D2C87-FAC6-440F-8296-405914DA77FA}" type="presParOf" srcId="{BF30E86D-EAFC-44CE-B56C-D7C5EC7742F3}" destId="{34A89649-B4A9-4A6F-8793-5A3DB37DDDA6}" srcOrd="0" destOrd="0" presId="urn:microsoft.com/office/officeart/2019/1/layout/PeoplePortraitsList"/>
    <dgm:cxn modelId="{10208EBB-3996-40BD-88FB-7743A0FCFC0C}" type="presParOf" srcId="{34A89649-B4A9-4A6F-8793-5A3DB37DDDA6}" destId="{FFB9F511-6797-4909-9D3B-89EBC96F25A8}" srcOrd="0" destOrd="0" presId="urn:microsoft.com/office/officeart/2019/1/layout/PeoplePortraitsList"/>
    <dgm:cxn modelId="{680FCFE1-C0D6-41B7-81EE-34F07569A758}" type="presParOf" srcId="{34A89649-B4A9-4A6F-8793-5A3DB37DDDA6}" destId="{73073D5B-7ADA-4F8B-AD34-0BE114905A44}" srcOrd="1" destOrd="0" presId="urn:microsoft.com/office/officeart/2019/1/layout/PeoplePortraitsList"/>
    <dgm:cxn modelId="{84E22014-947A-4B8C-A1FF-A1E4AAD40AF2}" type="presParOf" srcId="{34A89649-B4A9-4A6F-8793-5A3DB37DDDA6}" destId="{EE33220B-2292-4F19-BD6E-B7F529CD8414}" srcOrd="2" destOrd="0" presId="urn:microsoft.com/office/officeart/2019/1/layout/PeoplePortraitsList"/>
    <dgm:cxn modelId="{6B5D3C86-47CA-4D7E-A443-7DF8A6130E63}" type="presParOf" srcId="{34A89649-B4A9-4A6F-8793-5A3DB37DDDA6}" destId="{FDFAF16A-4FD0-49F4-8593-32E9A31A4FF7}" srcOrd="3" destOrd="0" presId="urn:microsoft.com/office/officeart/2019/1/layout/PeoplePortraitsList"/>
    <dgm:cxn modelId="{119527D7-3755-4E3D-BC66-7A27143BBB8B}" type="presParOf" srcId="{34A89649-B4A9-4A6F-8793-5A3DB37DDDA6}" destId="{EEB88C88-E325-43D0-B163-BFD87C897361}" srcOrd="4" destOrd="0" presId="urn:microsoft.com/office/officeart/2019/1/layout/PeoplePortraitsList"/>
    <dgm:cxn modelId="{8B410EAE-BFFA-4BD7-B4BA-16AABEF1EAA9}" type="presParOf" srcId="{34A89649-B4A9-4A6F-8793-5A3DB37DDDA6}" destId="{7D166BBB-55AF-452C-B9A0-94A1EE55FF4F}" srcOrd="5" destOrd="0" presId="urn:microsoft.com/office/officeart/2019/1/layout/PeoplePortraitsList"/>
    <dgm:cxn modelId="{02A3AE73-815E-459E-B530-44D4C95EF771}" type="presParOf" srcId="{34A89649-B4A9-4A6F-8793-5A3DB37DDDA6}" destId="{860D3358-284A-4827-88CC-2F74FF5A1E56}" srcOrd="6" destOrd="0" presId="urn:microsoft.com/office/officeart/2019/1/layout/PeoplePortraits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73D5B-7ADA-4F8B-AD34-0BE114905A44}">
      <dsp:nvSpPr>
        <dsp:cNvPr id="0" name=""/>
        <dsp:cNvSpPr/>
      </dsp:nvSpPr>
      <dsp:spPr>
        <a:xfrm>
          <a:off x="4288313" y="460948"/>
          <a:ext cx="2194559" cy="246888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000" b="-2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AF16A-4FD0-49F4-8593-32E9A31A4FF7}">
      <dsp:nvSpPr>
        <dsp:cNvPr id="0" name=""/>
        <dsp:cNvSpPr/>
      </dsp:nvSpPr>
      <dsp:spPr>
        <a:xfrm>
          <a:off x="4188975" y="3081438"/>
          <a:ext cx="2393235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en-US" sz="1500" kern="1200" dirty="0">
              <a:solidFill>
                <a:schemeClr val="bg1"/>
              </a:solidFill>
            </a:rPr>
            <a:t>Giorgia Grazia </a:t>
          </a:r>
          <a:r>
            <a:rPr lang="en-US" sz="1500" kern="1200" dirty="0" err="1">
              <a:solidFill>
                <a:schemeClr val="bg1"/>
              </a:solidFill>
            </a:rPr>
            <a:t>Mucciarella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4188975" y="3081438"/>
        <a:ext cx="2393235" cy="487349"/>
      </dsp:txXfrm>
    </dsp:sp>
    <dsp:sp modelId="{7D166BBB-55AF-452C-B9A0-94A1EE55FF4F}">
      <dsp:nvSpPr>
        <dsp:cNvPr id="0" name=""/>
        <dsp:cNvSpPr/>
      </dsp:nvSpPr>
      <dsp:spPr>
        <a:xfrm>
          <a:off x="4188975" y="3416310"/>
          <a:ext cx="239323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9/1/layout/PeoplePortraitsList">
  <dgm:title val="People Portrait List"/>
  <dgm:desc val="People Portrait List"/>
  <dgm:catLst>
    <dgm:cat type="list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/>
      <dgm:constr type="w" for="ch" forName="compNode" refType="h" refFor="ch" refForName="compNode" fact="0.55"/>
      <dgm:constr type="w" for="ch" forName="sibTrans" refType="w" refFor="ch" refForName="compNode" fact="0.175"/>
      <dgm:constr type="primFontSz" for="des" forName="nameTx" val="18"/>
      <dgm:constr type="primFontSz" for="des" forName="desTx" refType="primFontSz" refFor="des" refForName="nameTx" op="lte" fact="0.75"/>
      <dgm:constr type="h" for="des" forName="topSpace" op="equ"/>
      <dgm:constr type="h" for="des" forName="compNode" op="equ"/>
      <dgm:constr type="h" for="des" forName="photoElip" op="equ"/>
      <dgm:constr type="w" for="des" forName="photoElip" op="equ"/>
      <dgm:constr type="l" for="des" forName="photoElip" op="equ"/>
      <dgm:constr type="h" for="des" forName="iconSpace" op="equ"/>
      <dgm:constr type="h" for="des" forName="nameTx" op="equ"/>
      <dgm:constr type="h" for="des" forName="txSpace" op="equ"/>
      <dgm:constr type="h" for="des" forName="desTx" op="equ"/>
      <dgm:constr type="h" for="des" forName="bottSpace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topSpace" refType="w"/>
          <dgm:constr type="h" for="ch" forName="topSpace" refType="h" fact="0.187"/>
          <dgm:constr type="l" for="ch" forName="topSpace"/>
          <dgm:constr type="w" for="ch" forName="photoElip" refType="h" refFor="ch" refForName="photoElip"/>
          <dgm:constr type="h" for="ch" forName="photoElip" val="46.775"/>
          <dgm:constr type="t" for="ch" forName="photoElip" refType="b" refFor="ch" refForName="topSpace"/>
          <dgm:constr type="ctrX" for="ch" forName="photoElip" refType="w" fact="0.5"/>
          <dgm:constr type="w" for="ch" forName="iconSpace" refType="w"/>
          <dgm:constr type="h" for="ch" forName="iconSpace" refType="h" fact="0.075"/>
          <dgm:constr type="l" for="ch" forName="iconSpace"/>
          <dgm:constr type="t" for="ch" forName="iconSpace" refType="b" refFor="ch" refForName="photoElip"/>
          <dgm:constr type="w" for="ch" forName="nameTx" refType="w"/>
          <dgm:constr type="h" for="ch" forName="nameTx" refType="h" fact="0.112"/>
          <dgm:constr type="l" for="ch" forName="nameTx"/>
          <dgm:constr type="t" for="ch" forName="nameTx" refType="b" refFor="ch" refForName="iconSpace"/>
          <dgm:constr type="h" for="ch" forName="txSpace" refType="h" fact="0.015"/>
          <dgm:constr type="w" for="ch" forName="txSpace" refType="w"/>
          <dgm:constr type="l" for="ch" forName="txSpace"/>
          <dgm:constr type="t" for="ch" forName="txSpace" refType="b" refFor="ch" refForName="nameTx"/>
          <dgm:constr type="w" for="ch" forName="desTx" refType="w"/>
          <dgm:constr type="l" for="ch" forName="desTx"/>
          <dgm:constr type="h" for="ch" forName="desTx" refType="h" fact="0.13875"/>
          <dgm:constr type="t" for="ch" forName="desTx" refType="b" refFor="ch" refForName="txSpace"/>
          <dgm:constr type="w" for="ch" forName="bottSpace" refType="w"/>
          <dgm:constr type="h" for="ch" forName="bottSpace" refType="h" fact="0.067"/>
          <dgm:constr type="l" for="ch" forName="bottSpace"/>
          <dgm:constr type="t" for="ch" forName="bottSpace" refType="b" refFor="ch" refForName="desTx"/>
        </dgm:constrLst>
        <dgm:ruleLst>
          <dgm:rule type="h" val="INF" fact="NaN" max="NaN"/>
        </dgm:ruleLst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hotoElip" styleLbl="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x" styleLbl="revTx">
          <dgm:varLst>
            <dgm:chMax val="0"/>
            <dgm:chPref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HorzCh" val="ct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13"/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13" fact="NaN" max="NaN"/>
            <dgm:rule type="h" val="INF" fact="NaN" max="NaN"/>
          </dgm:ruleLst>
        </dgm:layoutNode>
        <dgm:layoutNode name="bott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ctr">
          <a:lnSpc>
            <a:spcPct val="100000"/>
          </a:lnSpc>
          <a:defRPr b="1" spc="20">
            <a:latin typeface="+mj-lt"/>
          </a:defRPr>
        </a:lvl1pPr>
        <a:lvl2pPr algn="ctr">
          <a:lnSpc>
            <a:spcPct val="100000"/>
          </a:lnSpc>
          <a:defRPr>
            <a:latin typeface="+mj-lt"/>
          </a:defRPr>
        </a:lvl2pPr>
        <a:lvl3pPr algn="ctr">
          <a:buNone/>
          <a:defRPr i="1">
            <a:latin typeface="+mj-lt"/>
          </a:defRPr>
        </a:lvl3pPr>
        <a:lvl4pPr algn="ctr">
          <a:buNone/>
          <a:defRPr i="1">
            <a:latin typeface="+mj-lt"/>
          </a:defRPr>
        </a:lvl4pPr>
        <a:lvl5pPr algn="ctr">
          <a:buNone/>
          <a:defRPr i="1">
            <a:latin typeface="+mj-lt"/>
          </a:defRPr>
        </a:lvl5pPr>
        <a:lvl6pPr algn="ctr">
          <a:buNone/>
          <a:defRPr i="1">
            <a:latin typeface="+mj-lt"/>
          </a:defRPr>
        </a:lvl6pPr>
        <a:lvl7pPr algn="ctr">
          <a:buNone/>
          <a:defRPr i="1">
            <a:latin typeface="+mj-lt"/>
          </a:defRPr>
        </a:lvl7pPr>
        <a:lvl8pPr algn="ctr">
          <a:buNone/>
          <a:defRPr i="1">
            <a:latin typeface="+mj-lt"/>
          </a:defRPr>
        </a:lvl8pPr>
        <a:lvl9pPr algn="ctr">
          <a:buNone/>
          <a:defRPr i="1">
            <a:latin typeface="+mj-lt"/>
          </a:defRPr>
        </a:lvl9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1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6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Davinci</a:t>
            </a:r>
            <a:r>
              <a:rPr lang="it-IT" dirty="0"/>
              <a:t> ha prestazioni inferiori rispetto a GPT3 per LIMITI DI LUNGH DEL PROMPT</a:t>
            </a:r>
          </a:p>
          <a:p>
            <a:r>
              <a:rPr lang="it-IT" dirty="0"/>
              <a:t>CODEX supera GPT3 perché addestrato </a:t>
            </a:r>
            <a:r>
              <a:rPr lang="it-IT" dirty="0" err="1"/>
              <a:t>esplicitam</a:t>
            </a:r>
            <a:r>
              <a:rPr lang="it-IT" dirty="0"/>
              <a:t> su dati di </a:t>
            </a:r>
            <a:r>
              <a:rPr lang="it-IT" dirty="0" err="1"/>
              <a:t>ling</a:t>
            </a:r>
            <a:r>
              <a:rPr lang="it-IT" dirty="0"/>
              <a:t> di programmazione però è limitato in termini di query al minuto</a:t>
            </a:r>
          </a:p>
          <a:p>
            <a:r>
              <a:rPr lang="it-IT" dirty="0"/>
              <a:t>SR: la percentuale di successo in cui tutte le condizioni obiettivo rilevanti per il task sono state raggiunte</a:t>
            </a:r>
          </a:p>
          <a:p>
            <a:r>
              <a:rPr lang="it-IT" dirty="0" err="1"/>
              <a:t>Executability</a:t>
            </a:r>
            <a:r>
              <a:rPr lang="it-IT" dirty="0"/>
              <a:t>: la frazione di azioni nel piano che sono eseguibili nell’ambiente, anche se non rilevanti per il task</a:t>
            </a:r>
          </a:p>
          <a:p>
            <a:r>
              <a:rPr lang="it-IT" dirty="0"/>
              <a:t>GCR (Goal </a:t>
            </a:r>
            <a:r>
              <a:rPr lang="it-IT" dirty="0" err="1"/>
              <a:t>Conditions</a:t>
            </a:r>
            <a:r>
              <a:rPr lang="it-IT" dirty="0"/>
              <a:t> Recall): la differenza tra le condizioni finali di stato corrette e quelle ottenute dal piano generato, diviso per il numero di condizioni obiettivo specifiche del task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5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paper parte da un problema reale (ambiguità dei piani in linguaggio naturale) e propone una soluzione pragmatica (generazione di codice Python con controlli).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 sembrano esserci secondi fini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L’idea che l’LLM ha bisogno di una struttura rigida e feedback nel controllo dei robot è condivisibile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24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38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Ho capito che aggiungere codice,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esempi aiuta i modelli a generare piani più affidabili ed eseguibili.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Gli LLM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possono essere usati anche nella robotica, traducendo istruzioni in azioni logiche.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 valutare il comportamento di un robot non è sempre semplice e può dipendere dal contesto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1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Progprompt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crea prompt strutturati che sfruttano il ragionamento e la comprensione del codice da parte degli LLM, per generare piani robotici eseguibili e realistici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 prestazioni migliori rispetto ai prompt in linguaggio naturale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adatta a nuovi task, agenti e ambienti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0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estazione sezio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IkXL0bo-GFI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AA83C15-E3FA-980E-BEAC-314A41A01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7654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b="1" i="0" dirty="0" err="1">
                <a:solidFill>
                  <a:srgbClr val="000000"/>
                </a:solidFill>
                <a:effectLst/>
              </a:rPr>
              <a:t>ProgPrompt</a:t>
            </a:r>
            <a:r>
              <a:rPr lang="en-US" sz="4800" b="1" i="0" dirty="0">
                <a:solidFill>
                  <a:srgbClr val="000000"/>
                </a:solidFill>
                <a:effectLst/>
              </a:rPr>
              <a:t>: Generating Situated Robot Task Plans using Large Language Models</a:t>
            </a:r>
            <a:br>
              <a:rPr lang="it-IT" sz="4800" dirty="0"/>
            </a:br>
            <a:endParaRPr lang="en-US" sz="4800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EC5560FC-488A-1402-B8F5-26253BD6A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2719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tserrat" panose="00000500000000000000" pitchFamily="2" charset="0"/>
              </a:rPr>
              <a:t>TEAM:  Giorgia Grazia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Montserrat" panose="00000500000000000000" pitchFamily="2" charset="0"/>
              </a:rPr>
              <a:t>Mucciarella</a:t>
            </a:r>
            <a:endParaRPr lang="en-US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tserrat" panose="00000500000000000000" pitchFamily="2" charset="0"/>
              </a:rPr>
              <a:t>1000069228</a:t>
            </a:r>
          </a:p>
          <a:p>
            <a:endParaRPr lang="en-US" sz="1800" b="0" i="0" u="none" strike="noStrike" baseline="0" dirty="0">
              <a:solidFill>
                <a:srgbClr val="243847"/>
              </a:solidFill>
              <a:latin typeface="Montserrat" panose="00000500000000000000" pitchFamily="2" charset="0"/>
            </a:endParaRPr>
          </a:p>
          <a:p>
            <a:r>
              <a:rPr lang="en-US" sz="1800" b="0" i="0" u="none" strike="noStrike" baseline="0" dirty="0">
                <a:solidFill>
                  <a:srgbClr val="243847"/>
                </a:solidFill>
                <a:latin typeface="Montserrat" panose="00000500000000000000" pitchFamily="2" charset="0"/>
              </a:rPr>
              <a:t>Cognitive Computing and Artificial Intelligenc</a:t>
            </a:r>
            <a:r>
              <a:rPr lang="en-US" sz="1800" dirty="0">
                <a:solidFill>
                  <a:srgbClr val="243847"/>
                </a:solidFill>
                <a:latin typeface="Montserrat" panose="00000500000000000000" pitchFamily="2" charset="0"/>
              </a:rPr>
              <a:t>e Course</a:t>
            </a:r>
            <a:endParaRPr lang="en-US" sz="1800" b="0" i="0" u="none" strike="noStrike" baseline="0" dirty="0">
              <a:solidFill>
                <a:srgbClr val="243847"/>
              </a:solidFill>
              <a:latin typeface="Montserrat" panose="00000500000000000000" pitchFamily="2" charset="0"/>
            </a:endParaRPr>
          </a:p>
          <a:p>
            <a:r>
              <a:rPr lang="en-US" sz="1800" b="0" i="0" u="none" strike="noStrike" baseline="0" dirty="0">
                <a:solidFill>
                  <a:srgbClr val="243847"/>
                </a:solidFill>
                <a:latin typeface="Montserrat" panose="00000500000000000000" pitchFamily="2" charset="0"/>
              </a:rPr>
              <a:t>University of Catania, Italy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352AA32-C711-EB03-4532-95192FE2C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1191" y="139959"/>
            <a:ext cx="982404" cy="98240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C9F9D30-A53D-4342-BDF5-26C3CA572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16" y="263905"/>
            <a:ext cx="2207419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3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 outline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issue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technology</a:t>
            </a:r>
            <a:endParaRPr lang="it-IT" dirty="0"/>
          </a:p>
          <a:p>
            <a:r>
              <a:rPr lang="it-IT" dirty="0"/>
              <a:t>The key points </a:t>
            </a:r>
          </a:p>
          <a:p>
            <a:r>
              <a:rPr lang="it-IT" dirty="0" err="1"/>
              <a:t>Strengths</a:t>
            </a:r>
            <a:r>
              <a:rPr lang="it-IT" dirty="0"/>
              <a:t> and </a:t>
            </a:r>
            <a:r>
              <a:rPr lang="it-IT" dirty="0" err="1"/>
              <a:t>weaknesses</a:t>
            </a:r>
            <a:endParaRPr lang="it-IT" dirty="0"/>
          </a:p>
          <a:p>
            <a:r>
              <a:rPr lang="it-IT" dirty="0" err="1"/>
              <a:t>Conclusions</a:t>
            </a:r>
            <a:endParaRPr lang="it-IT" dirty="0"/>
          </a:p>
          <a:p>
            <a:endParaRPr lang="it-IT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642631A-6ABE-41EA-A308-9CF1230F14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1268963" y="2530058"/>
            <a:ext cx="3933973" cy="3707971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70049"/>
            <a:ext cx="6190488" cy="3346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Robots are often required to perform </a:t>
            </a:r>
            <a:r>
              <a:rPr lang="en-US" b="1" dirty="0"/>
              <a:t>complex and multi-step tasks </a:t>
            </a:r>
            <a:r>
              <a:rPr lang="en-US" dirty="0"/>
              <a:t>(e.g., cooking, cleaning, putting away objects).</a:t>
            </a:r>
          </a:p>
          <a:p>
            <a:pPr>
              <a:buNone/>
            </a:pPr>
            <a:r>
              <a:rPr lang="en-US" b="1" dirty="0"/>
              <a:t>Large Language Models </a:t>
            </a:r>
            <a:r>
              <a:rPr lang="en-US" dirty="0"/>
              <a:t>(LLMs) are highly effective with natural language and world knowledge, but: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do not always produce reliable, structured, and sequential 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Their outputs often lack logical structure and error handling.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8A75283C-D9EF-26A6-C8C7-C55A5497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7799-3341-EFB7-E932-12C04F41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6755E0-13B7-6E4F-86B7-80F13C48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The technology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C90DBC-832F-A63D-9C9A-730E8258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4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5427239-FF5A-B51A-472D-B18AA35E7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872" y="1825625"/>
            <a:ext cx="8892256" cy="4351338"/>
          </a:xfrm>
        </p:spPr>
      </p:pic>
    </p:spTree>
    <p:extLst>
      <p:ext uri="{BB962C8B-B14F-4D97-AF65-F5344CB8AC3E}">
        <p14:creationId xmlns:p14="http://schemas.microsoft.com/office/powerpoint/2010/main" val="61302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10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EC8CE9-FCC9-0F60-07AE-952132C1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KEY POINTS</a:t>
            </a:r>
          </a:p>
        </p:txBody>
      </p:sp>
      <p:sp>
        <p:nvSpPr>
          <p:cNvPr id="2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AE57F7-AE82-6A4F-68FE-CAAE6525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91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Prompt for Planning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1" name="Immagine 2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42602E0-6C10-9209-FF5F-0C4209049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-319"/>
            <a:ext cx="3326579" cy="685831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C55B9F2-DC25-A6BE-162C-B01CCBD996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71069" y="1808618"/>
            <a:ext cx="558273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core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method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how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prompt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constructed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guide GPT-3 in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plan.</a:t>
            </a:r>
            <a:b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includes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Primitive actions (e.g.,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walk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grab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open,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list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present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environment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Example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tasks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solved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Python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given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D90B934-6861-B0E0-0941-30734C1C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F682-B5B4-9E8A-1D47-D2A2785A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FFD3-B209-59D1-2F92-143ED8BD9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Generated Plan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06B8630-53CB-261F-742D-E0225DE0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magine 3" descr="Immagine che contiene testo, schermata, Carattere, Parallelo&#10;&#10;Il contenuto generato dall'IA potrebbe non essere corretto.">
            <a:extLst>
              <a:ext uri="{FF2B5EF4-FFF2-40B4-BE49-F238E27FC236}">
                <a16:creationId xmlns:a16="http://schemas.microsoft.com/office/drawing/2014/main" id="{C3EF42EB-2B16-9FE1-BFE0-E48AD584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72" y="0"/>
            <a:ext cx="3985846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1C9F26E-8344-9DA9-AD3B-118ACC11EB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36571" y="2424170"/>
            <a:ext cx="554501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Python code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GPT-3, for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example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“put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salmon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microwave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b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The plan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composed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Atomic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actions (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grab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putin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State checks (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assert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Automatic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corrections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00CD8B94-3840-6F0E-C442-2078AA58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184932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F9AB7-20E7-B79E-9DB3-F842D335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DBBB-C656-19D2-9F38-224D55A89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4" y="1551121"/>
            <a:ext cx="4434840" cy="886968"/>
          </a:xfrm>
        </p:spPr>
        <p:txBody>
          <a:bodyPr>
            <a:normAutofit fontScale="90000"/>
          </a:bodyPr>
          <a:lstStyle/>
          <a:p>
            <a:r>
              <a:rPr lang="en-US" dirty="0"/>
              <a:t>Prompt for State Feedback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80980B5-05F4-3A5E-1A4D-E28D66DD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DF3C6F4-0864-8EB0-5033-632DA284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61" y="1446245"/>
            <a:ext cx="5811564" cy="3547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989882B-8B48-5702-0A8E-EFD06AF9A8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06117" y="2618643"/>
            <a:ext cx="560591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part monitors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virtual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world state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during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includes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assertions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microwave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open?)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current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“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you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salmon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Robot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responses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if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check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triggers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open('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microwave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'))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8E0860F6-3A6E-EF3F-3235-95D26EE3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390785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5278-3D07-466F-8351-667A2EBE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 experiment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5FF1C-3CBD-419A-9DE4-7A8AA63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5" name="task_unseen_putsalmoninthefridge">
            <a:hlinkClick r:id="" action="ppaction://media"/>
            <a:extLst>
              <a:ext uri="{FF2B5EF4-FFF2-40B4-BE49-F238E27FC236}">
                <a16:creationId xmlns:a16="http://schemas.microsoft.com/office/drawing/2014/main" id="{304E2D90-8C0B-D177-3D1C-DB891EB5B30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14613" y="1825625"/>
            <a:ext cx="6962775" cy="4351338"/>
          </a:xfrm>
        </p:spPr>
      </p:pic>
    </p:spTree>
    <p:extLst>
      <p:ext uri="{BB962C8B-B14F-4D97-AF65-F5344CB8AC3E}">
        <p14:creationId xmlns:p14="http://schemas.microsoft.com/office/powerpoint/2010/main" val="315928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8BE9C6-F6A3-4767-D38D-4CA9D7E4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Real robot experiment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1D4750-B5B8-2BCA-AFBC-B78E4FF0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10</a:t>
            </a:fld>
            <a:endParaRPr lang="en-US" dirty="0"/>
          </a:p>
        </p:txBody>
      </p:sp>
      <p:pic>
        <p:nvPicPr>
          <p:cNvPr id="11" name="Elementi multimediali online 10" title="real robot 1">
            <a:hlinkClick r:id="" action="ppaction://media"/>
            <a:extLst>
              <a:ext uri="{FF2B5EF4-FFF2-40B4-BE49-F238E27FC236}">
                <a16:creationId xmlns:a16="http://schemas.microsoft.com/office/drawing/2014/main" id="{5BC720D7-1920-03ED-A056-1951E819DB9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04226" y="1825625"/>
            <a:ext cx="7707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1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BBC25-813D-757E-45AD-7497D937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F29BAE1-F9B6-BD96-97D6-C9C973C2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STRENGTHS AND</a:t>
            </a:r>
            <a:r>
              <a:rPr lang="en-US" sz="6000" b="1" i="0" kern="12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WEAKNESSES</a:t>
            </a:r>
            <a:endParaRPr lang="en-US" sz="6000" b="1" i="0" kern="1200" cap="all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040558-0AA1-5CF7-E0AA-71EE2CDD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30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Strengths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681163"/>
            <a:ext cx="6688494" cy="823912"/>
          </a:xfrm>
        </p:spPr>
        <p:txBody>
          <a:bodyPr>
            <a:normAutofit/>
          </a:bodyPr>
          <a:lstStyle/>
          <a:p>
            <a:r>
              <a:rPr lang="it-IT" dirty="0" err="1"/>
              <a:t>Outperforms</a:t>
            </a:r>
            <a:r>
              <a:rPr lang="it-IT" dirty="0"/>
              <a:t> alternative </a:t>
            </a:r>
            <a:r>
              <a:rPr lang="it-IT" dirty="0" err="1"/>
              <a:t>methods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800" y="2808287"/>
            <a:ext cx="9907588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Table 1, </a:t>
            </a:r>
            <a:r>
              <a:rPr lang="en-US" dirty="0" err="1"/>
              <a:t>ProgPrompt</a:t>
            </a:r>
            <a:r>
              <a:rPr lang="en-US" dirty="0"/>
              <a:t> clearly outperforms alternative approaches (e.g., natural language prompts or dynamically selected examples).</a:t>
            </a:r>
            <a:br>
              <a:rPr lang="en-US" dirty="0"/>
            </a:br>
            <a:r>
              <a:rPr lang="en-US" dirty="0"/>
              <a:t>This shows that a more structured, code-based prompting strategy leads to more reliable and executable plans.</a:t>
            </a:r>
            <a:endParaRPr lang="en-US" sz="2000" dirty="0"/>
          </a:p>
        </p:txBody>
      </p:sp>
      <p:pic>
        <p:nvPicPr>
          <p:cNvPr id="14" name="Immagine 1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F82EA25-FA3C-9FCC-6761-A4440E12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720" y="4071510"/>
            <a:ext cx="7325747" cy="1943371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FA5C37-081D-9D33-7F4E-AEB153ADF34E}"/>
              </a:ext>
            </a:extLst>
          </p:cNvPr>
          <p:cNvSpPr txBox="1"/>
          <p:nvPr/>
        </p:nvSpPr>
        <p:spPr>
          <a:xfrm>
            <a:off x="5934157" y="5884546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Table</a:t>
            </a:r>
            <a:r>
              <a:rPr lang="it-IT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Strengths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2093119"/>
            <a:ext cx="2834640" cy="8239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Clear and modular prompt structure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800" y="2505075"/>
            <a:ext cx="2834640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method builds a Pythonic prompt with primitive actions, concrete examples, and logical structure, making it easy to understand and execute.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7335" y="2093119"/>
            <a:ext cx="2834640" cy="823912"/>
          </a:xfrm>
        </p:spPr>
        <p:txBody>
          <a:bodyPr>
            <a:normAutofit fontScale="92500" lnSpcReduction="20000"/>
          </a:bodyPr>
          <a:lstStyle/>
          <a:p>
            <a:r>
              <a:rPr lang="it-IT" dirty="0" err="1"/>
              <a:t>Verified</a:t>
            </a:r>
            <a:r>
              <a:rPr lang="it-IT" dirty="0"/>
              <a:t> and </a:t>
            </a:r>
            <a:r>
              <a:rPr lang="it-IT" dirty="0" err="1"/>
              <a:t>controlled</a:t>
            </a:r>
            <a:r>
              <a:rPr lang="it-IT" dirty="0"/>
              <a:t> </a:t>
            </a:r>
            <a:r>
              <a:rPr lang="it-IT" dirty="0" err="1"/>
              <a:t>execution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4CB9D-E60B-4C8A-B4E7-23BC1D9F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7335" y="2505075"/>
            <a:ext cx="2834640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altLang="it-IT" dirty="0"/>
              <a:t>W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ith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assert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statements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state checks,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action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before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E6B5B72-43F9-4438-A504-FD3C083AB96D}"/>
              </a:ext>
            </a:extLst>
          </p:cNvPr>
          <p:cNvSpPr txBox="1">
            <a:spLocks/>
          </p:cNvSpPr>
          <p:nvPr/>
        </p:nvSpPr>
        <p:spPr>
          <a:xfrm>
            <a:off x="8526870" y="1681163"/>
            <a:ext cx="283464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Real-world </a:t>
            </a:r>
            <a:r>
              <a:rPr lang="it-IT" dirty="0" err="1"/>
              <a:t>applicability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DE486408-F529-4D60-A080-911A0851FE1B}"/>
              </a:ext>
            </a:extLst>
          </p:cNvPr>
          <p:cNvSpPr txBox="1">
            <a:spLocks/>
          </p:cNvSpPr>
          <p:nvPr/>
        </p:nvSpPr>
        <p:spPr>
          <a:xfrm>
            <a:off x="8526870" y="2505075"/>
            <a:ext cx="2834640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approach is tested in both simulation (</a:t>
            </a:r>
            <a:r>
              <a:rPr lang="en-US" sz="2000" dirty="0" err="1"/>
              <a:t>VirtualHome</a:t>
            </a:r>
            <a:r>
              <a:rPr lang="en-US" sz="2000" dirty="0"/>
              <a:t>) and real robots.</a:t>
            </a:r>
          </a:p>
        </p:txBody>
      </p:sp>
    </p:spTree>
    <p:extLst>
      <p:ext uri="{BB962C8B-B14F-4D97-AF65-F5344CB8AC3E}">
        <p14:creationId xmlns:p14="http://schemas.microsoft.com/office/powerpoint/2010/main" val="237191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FEEB-4204-3852-74B1-AD297E75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BBE1-5D6A-2833-4790-E5151699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Weaknesses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FCF8-C79C-C1A9-A4D8-8D91E96AA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681163"/>
            <a:ext cx="2834640" cy="823912"/>
          </a:xfrm>
        </p:spPr>
        <p:txBody>
          <a:bodyPr>
            <a:normAutofit/>
          </a:bodyPr>
          <a:lstStyle/>
          <a:p>
            <a:r>
              <a:rPr lang="it-IT" dirty="0"/>
              <a:t>Environment </a:t>
            </a:r>
            <a:r>
              <a:rPr lang="it-IT" dirty="0" err="1"/>
              <a:t>limitations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21750-6691-2C47-57CB-600891820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7335" y="2093119"/>
            <a:ext cx="2834640" cy="823912"/>
          </a:xfrm>
        </p:spPr>
        <p:txBody>
          <a:bodyPr>
            <a:normAutofit/>
          </a:bodyPr>
          <a:lstStyle/>
          <a:p>
            <a:r>
              <a:rPr lang="it-IT" dirty="0"/>
              <a:t>Incomplete recovery </a:t>
            </a:r>
            <a:r>
              <a:rPr lang="it-IT" dirty="0" err="1"/>
              <a:t>logic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4EF5426-4B5F-5F3B-33E7-DEE84F7DE40C}"/>
              </a:ext>
            </a:extLst>
          </p:cNvPr>
          <p:cNvSpPr txBox="1">
            <a:spLocks/>
          </p:cNvSpPr>
          <p:nvPr/>
        </p:nvSpPr>
        <p:spPr>
          <a:xfrm>
            <a:off x="8526870" y="1681163"/>
            <a:ext cx="283464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LLM output </a:t>
            </a:r>
            <a:r>
              <a:rPr lang="it-IT" dirty="0" err="1"/>
              <a:t>limitations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306A33F-1D32-AB3D-7B5A-DE2D0C26B51A}"/>
              </a:ext>
            </a:extLst>
          </p:cNvPr>
          <p:cNvSpPr txBox="1">
            <a:spLocks/>
          </p:cNvSpPr>
          <p:nvPr/>
        </p:nvSpPr>
        <p:spPr>
          <a:xfrm>
            <a:off x="8526870" y="2505075"/>
            <a:ext cx="2834640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612D05B-789A-3318-E01E-94B0181C873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47800" y="2332978"/>
            <a:ext cx="282851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VH agent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can't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nearby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sitting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actions are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opening TV cabinet)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AEFB9CE-F0E8-E5F3-CFDE-75B2389BB8A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4981213" y="2332979"/>
            <a:ext cx="282851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If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inside a container, the plan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might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 opening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action success feedback → recovery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doesn’t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always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3A03632-1720-3A82-C95E-9638D8193E2F}"/>
              </a:ext>
            </a:extLst>
          </p:cNvPr>
          <p:cNvSpPr txBox="1"/>
          <p:nvPr/>
        </p:nvSpPr>
        <p:spPr>
          <a:xfrm>
            <a:off x="8539113" y="2593043"/>
            <a:ext cx="2649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2BEA453C-8958-49FE-E4B8-A2BBA406DD8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532992" y="2794643"/>
            <a:ext cx="267441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plans are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due to token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limits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618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Weaknesses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681163"/>
            <a:ext cx="4549775" cy="823912"/>
          </a:xfrm>
        </p:spPr>
        <p:txBody>
          <a:bodyPr/>
          <a:lstStyle/>
          <a:p>
            <a:r>
              <a:rPr lang="it-IT" b="1" dirty="0" err="1"/>
              <a:t>Strict</a:t>
            </a:r>
            <a:r>
              <a:rPr lang="it-IT" b="1" dirty="0"/>
              <a:t> </a:t>
            </a:r>
            <a:r>
              <a:rPr lang="it-IT" b="1" dirty="0" err="1"/>
              <a:t>evaluation</a:t>
            </a:r>
            <a:r>
              <a:rPr lang="it-IT" b="1" dirty="0"/>
              <a:t> = false </a:t>
            </a:r>
            <a:r>
              <a:rPr lang="it-IT" b="1" dirty="0" err="1"/>
              <a:t>failures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0212" y="1367854"/>
            <a:ext cx="4572182" cy="823912"/>
          </a:xfrm>
        </p:spPr>
        <p:txBody>
          <a:bodyPr/>
          <a:lstStyle/>
          <a:p>
            <a:r>
              <a:rPr lang="it-IT" dirty="0" err="1"/>
              <a:t>Ambiguous</a:t>
            </a:r>
            <a:r>
              <a:rPr lang="it-IT" dirty="0"/>
              <a:t> tasks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2ECEB48-B25F-AC0C-1751-6A7F5D3C701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47799" y="2477401"/>
            <a:ext cx="454977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marked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if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completed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extra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Ex: making coffee,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moving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considered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71ED54B-E62D-7002-2BA4-8B4D235F6C2F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780212" y="2462012"/>
            <a:ext cx="4572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Tasks like “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prepare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dinner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 can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multiple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outcomes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PROGPROMPT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adapts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well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automatic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difficult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judgment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FDC2-4645-C67C-3420-F54C36E4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AB808E-1FC6-5C85-5D1A-4C7642D7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dirty="0"/>
              <a:t>Critical </a:t>
            </a:r>
            <a:r>
              <a:rPr lang="it-IT" dirty="0"/>
              <a:t>thinking - </a:t>
            </a:r>
            <a:r>
              <a:rPr lang="it-IT" dirty="0" err="1"/>
              <a:t>Ideas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03CF4C6-A7A3-A9FA-A2BD-1B6E6F7D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16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C133F7-0C52-AC15-26A1-B4A550DF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paper starts from a concrete problem (the ambiguity of natural language plans) and proposes a structured, pragmatic solution (Python code with assertions).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No commercial interests or evident bias – it is pure research.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idea that LLMs need structure and feedback to control robots in realistic environments is convincing and well supported.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47327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5A99-F5EF-58A3-4537-889A406B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03813-A08E-C4D9-9780-EB748635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Critical thinking - </a:t>
            </a:r>
            <a:r>
              <a:rPr lang="it-IT" dirty="0" err="1"/>
              <a:t>Methodology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D8E3EE-1E0F-4B71-34B7-10EB65B3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17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D6C791-B1EE-6DA3-DCFE-3D79ACF29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59503"/>
            <a:ext cx="568777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1800" dirty="0"/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baselines and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platforms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000" dirty="0"/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on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real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robot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false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negatives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962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5A37-9495-0FE3-AD44-2012294AB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CD4850-7B43-283E-D604-11756BA2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dirty="0"/>
              <a:t>Critical Thinking –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br>
              <a:rPr lang="it-IT" dirty="0"/>
            </a:b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5D4C0B-4AC5-4F91-2125-58FEF83A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18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1C6D8-F85F-02D1-834B-FD7E54E74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5615"/>
            <a:ext cx="631615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000" dirty="0"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structure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language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000" dirty="0"/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of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examples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(code +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scenarios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Limitations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mentioned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briefly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explored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Could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 more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discussion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cases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3352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7695-6344-452F-8476-53F5A6BE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6F3EBB-348A-050D-DB37-00C48D6C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What</a:t>
            </a:r>
            <a:r>
              <a:rPr lang="it-IT" dirty="0"/>
              <a:t> i </a:t>
            </a:r>
            <a:r>
              <a:rPr lang="it-IT" dirty="0" err="1"/>
              <a:t>learned</a:t>
            </a:r>
            <a:r>
              <a:rPr lang="it-IT" dirty="0"/>
              <a:t> </a:t>
            </a:r>
            <a:br>
              <a:rPr lang="it-IT" dirty="0"/>
            </a:b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693F1D-B08A-1F6D-8F77-9EC58E18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19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9A61D0-42FF-6EE4-B3A3-F2A871004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13392"/>
            <a:ext cx="86052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Structured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prompts help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LLMs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generate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better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executable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LLMs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be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robotics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just in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language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in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robotics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challenging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475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7932-C0CC-E050-A726-3F4C0806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F5F21E-F58A-6FDE-2DF4-A4DF92FB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dirty="0" err="1"/>
              <a:t>Conclusions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360FAE5-CCAF-48C0-8572-B0118183F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20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E27631-39F2-5FFC-129F-6AB71656F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 err="1"/>
              <a:t>ProgPrompt</a:t>
            </a:r>
            <a:r>
              <a:rPr lang="en-US" sz="2000" b="1" dirty="0"/>
              <a:t> bridges language and programming</a:t>
            </a:r>
          </a:p>
          <a:p>
            <a:pPr>
              <a:buNone/>
            </a:pPr>
            <a:r>
              <a:rPr lang="en-US" sz="2000" dirty="0"/>
              <a:t>• It builds prompts that leverage LLMs' common sense reasoning and code understanding to generate executable and realistic plans.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Promising results</a:t>
            </a:r>
            <a:br>
              <a:rPr lang="en-US" sz="2000" dirty="0"/>
            </a:br>
            <a:r>
              <a:rPr lang="en-US" sz="2000" dirty="0"/>
              <a:t>• Outperforms natural language prompting methods</a:t>
            </a:r>
            <a:br>
              <a:rPr lang="en-US" sz="2000" dirty="0"/>
            </a:br>
            <a:r>
              <a:rPr lang="en-US" sz="2000" dirty="0"/>
              <a:t>• Generalizes well to new tasks, agents, and environments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7220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04/06/2025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Giorgia Grazia </a:t>
            </a:r>
            <a:r>
              <a:rPr lang="en-US" dirty="0" err="1"/>
              <a:t>Mucciarella</a:t>
            </a:r>
            <a:endParaRPr lang="en-US" dirty="0"/>
          </a:p>
          <a:p>
            <a:r>
              <a:rPr lang="en-US" dirty="0"/>
              <a:t>uni394556@studium.unict.it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4E167A0C-349D-4229-C857-EEDBF1D730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062DBBF3-DF83-67FB-8802-4988643ECF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ECD3354-02DD-3C09-D858-9653400793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139621C3-A048-88F8-DA16-156307F3FE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34486" y="566293"/>
            <a:ext cx="1952279" cy="1952279"/>
          </a:xfrm>
        </p:spPr>
        <p:txBody>
          <a:bodyPr/>
          <a:lstStyle/>
          <a:p>
            <a:endParaRPr lang="it-IT"/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B193E23-DA6E-9F7D-AD40-902D0D2E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69086" y="2006120"/>
            <a:ext cx="4114800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graphicFrame>
        <p:nvGraphicFramePr>
          <p:cNvPr id="7" name="Content Placeholder 2" descr="Team SmartArt graphic">
            <a:extLst>
              <a:ext uri="{FF2B5EF4-FFF2-40B4-BE49-F238E27FC236}">
                <a16:creationId xmlns:a16="http://schemas.microsoft.com/office/drawing/2014/main" id="{03C6056F-38E4-47B4-87B7-F1F7D129B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71779"/>
              </p:ext>
            </p:extLst>
          </p:nvPr>
        </p:nvGraphicFramePr>
        <p:xfrm>
          <a:off x="576263" y="1825625"/>
          <a:ext cx="107711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D5D16-EDC5-46DE-A0B9-0765F4F5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04/06/2025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56CDB13-EE9A-4694-E21C-2E95B13C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/>
          <a:p>
            <a:r>
              <a:rPr lang="en-US" dirty="0"/>
              <a:t>PrOGPROMPT</a:t>
            </a:r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Personalizzato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{C038943D-EE37-422E-AD8A-D1ADCBAB749E}tf89338750_win32</Template>
  <TotalTime>7721</TotalTime>
  <Words>1034</Words>
  <Application>Microsoft Office PowerPoint</Application>
  <PresentationFormat>Widescreen</PresentationFormat>
  <Paragraphs>155</Paragraphs>
  <Slides>22</Slides>
  <Notes>7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Arial</vt:lpstr>
      <vt:lpstr>Calibri</vt:lpstr>
      <vt:lpstr>Montserrat</vt:lpstr>
      <vt:lpstr>GradientUnivers</vt:lpstr>
      <vt:lpstr>ProgPrompt: Generating Situated Robot Task Plans using Large Language Models </vt:lpstr>
      <vt:lpstr> outline</vt:lpstr>
      <vt:lpstr>The issue</vt:lpstr>
      <vt:lpstr>The technology</vt:lpstr>
      <vt:lpstr>THE KEY POINTS</vt:lpstr>
      <vt:lpstr>Prompt for Planning</vt:lpstr>
      <vt:lpstr>Generated Plan</vt:lpstr>
      <vt:lpstr>Prompt for State Feedback</vt:lpstr>
      <vt:lpstr>Simulation experiment</vt:lpstr>
      <vt:lpstr>Real robot experiment</vt:lpstr>
      <vt:lpstr>STRENGTHS AND WEAKNESSES</vt:lpstr>
      <vt:lpstr>Strengths </vt:lpstr>
      <vt:lpstr>Strengths </vt:lpstr>
      <vt:lpstr>Weaknesses</vt:lpstr>
      <vt:lpstr>Weaknesses</vt:lpstr>
      <vt:lpstr>Critical thinking - Ideas</vt:lpstr>
      <vt:lpstr>Critical thinking - Methodology</vt:lpstr>
      <vt:lpstr>Critical Thinking – Communication  </vt:lpstr>
      <vt:lpstr>What i learned  </vt:lpstr>
      <vt:lpstr>Conclusions</vt:lpstr>
      <vt:lpstr>Thank you</vt:lpstr>
      <vt:lpstr>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Galaxy</dc:title>
  <dc:creator>Salvo Calcagno</dc:creator>
  <cp:lastModifiedBy>GIORGIA GRAZIA MUCCIARELLA</cp:lastModifiedBy>
  <cp:revision>33</cp:revision>
  <dcterms:created xsi:type="dcterms:W3CDTF">2023-05-16T15:20:59Z</dcterms:created>
  <dcterms:modified xsi:type="dcterms:W3CDTF">2025-06-04T14:34:25Z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